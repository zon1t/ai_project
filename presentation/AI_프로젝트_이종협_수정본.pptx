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300" b="1">
                <a:solidFill>
                  <a:srgbClr val="1B1F27"/>
                </a:solidFill>
                <a:latin typeface="Malgun Gothic"/>
              </a:rPr>
              <a:t>평가 분할 </a:t>
            </a:r>
            <a:r>
              <a:rPr lang="en-US" altLang="ko-KR" sz="1300" b="1">
                <a:solidFill>
                  <a:srgbClr val="1B1F27"/>
                </a:solidFill>
                <a:latin typeface="Malgun Gothic"/>
              </a:rPr>
              <a:t>524</a:t>
            </a:r>
            <a:r>
              <a:rPr lang="ko-KR" altLang="en-US" sz="1300" b="1">
                <a:solidFill>
                  <a:srgbClr val="1B1F27"/>
                </a:solidFill>
                <a:latin typeface="Malgun Gothic"/>
              </a:rPr>
              <a:t>건 </a:t>
            </a:r>
            <a:r>
              <a:rPr lang="en-US" altLang="ko-KR" sz="1300" b="1">
                <a:solidFill>
                  <a:srgbClr val="1B1F27"/>
                </a:solidFill>
                <a:latin typeface="Malgun Gothic"/>
              </a:rPr>
              <a:t>· Top-3 </a:t>
            </a:r>
            <a:r>
              <a:rPr lang="ko-KR" altLang="en-US" sz="1300" b="1">
                <a:solidFill>
                  <a:srgbClr val="1B1F27"/>
                </a:solidFill>
                <a:latin typeface="Malgun Gothic"/>
              </a:rPr>
              <a:t>정확도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Top-3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9DCE1"/>
              </a:solidFill>
            </c:spPr>
            <c:extLst>
              <c:ext xmlns:c16="http://schemas.microsoft.com/office/drawing/2014/chart" uri="{C3380CC4-5D6E-409C-BE32-E72D297353CC}">
                <c16:uniqueId val="{00000001-3C87-4089-8E92-03EF3A27A1E5}"/>
              </c:ext>
            </c:extLst>
          </c:dPt>
          <c:dPt>
            <c:idx val="1"/>
            <c:invertIfNegative val="1"/>
            <c:bubble3D val="0"/>
            <c:spPr>
              <a:solidFill>
                <a:srgbClr val="9AA1AD"/>
              </a:solidFill>
            </c:spPr>
            <c:extLst>
              <c:ext xmlns:c16="http://schemas.microsoft.com/office/drawing/2014/chart" uri="{C3380CC4-5D6E-409C-BE32-E72D297353CC}">
                <c16:uniqueId val="{00000003-3C87-4089-8E92-03EF3A27A1E5}"/>
              </c:ext>
            </c:extLst>
          </c:dPt>
          <c:dPt>
            <c:idx val="2"/>
            <c:invertIfNegative val="1"/>
            <c:bubble3D val="0"/>
            <c:spPr>
              <a:solidFill>
                <a:srgbClr val="D62839"/>
              </a:solidFill>
            </c:spPr>
            <c:extLst>
              <c:ext xmlns:c16="http://schemas.microsoft.com/office/drawing/2014/chart" uri="{C3380CC4-5D6E-409C-BE32-E72D297353CC}">
                <c16:uniqueId val="{00000005-3C87-4089-8E92-03EF3A27A1E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B1F27"/>
                    </a:solidFill>
                    <a:latin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TF-IDF</c:v>
                </c:pt>
                <c:pt idx="1">
                  <c:v>임베딩 (bge-m3)</c:v>
                </c:pt>
                <c:pt idx="2">
                  <c:v>혼합형 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0.52300000000000002</c:v>
                </c:pt>
                <c:pt idx="1">
                  <c:v>0.79</c:v>
                </c:pt>
                <c:pt idx="2">
                  <c:v>0.80300000000000005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87-4089-8E92-03EF3A27A1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6270"/>
                </a:solidFill>
                <a:latin typeface="Malgun Gothic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14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[15초] 핵심: 무엇을 만들었는지 한 문장 + "마지막은 사람"</a:t>
            </a:r>
          </a:p>
          <a:p>
            <a:endParaRPr/>
          </a:p>
          <a:p>
            <a:r>
              <a:t>말할 것</a:t>
            </a:r>
          </a:p>
          <a:p>
            <a:r>
              <a:t>- RedFix를 소개하겠습니다. 운영 시스템의 변경 요청, SR 티켓을 받아 고치는 에이전트입니다.</a:t>
            </a:r>
          </a:p>
          <a:p>
            <a:r>
              <a:t>- 제가 가장 신경 쓴 건 '잘 고치는 것'보다 '담당자가 이 수정을 믿고 승인할 수 있게 만드는 것'이었습니다.</a:t>
            </a:r>
          </a:p>
          <a:p>
            <a:r>
              <a:t>- 그래서 아래 흐름의 마지막 단계는 항상 사람의 승인입니다.</a:t>
            </a:r>
          </a:p>
          <a:p>
            <a:endParaRPr/>
          </a:p>
          <a:p>
            <a:r>
              <a:t>주의: 결과 숫자는 9장(기획 목표 대비 결과)에서 처음 공개합니다.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[45초] 핵심: LLM이 고친 코드를 현업이 그대로 반영할 수 없는 세 가지 이유</a:t>
            </a:r>
          </a:p>
          <a:p>
            <a:endParaRPr/>
          </a:p>
          <a:p>
            <a:r>
              <a:t>말할 것</a:t>
            </a:r>
          </a:p>
          <a:p>
            <a:r>
              <a:t>- 요즘 LLM에게 고치라고 하면 코드는 금방 나옵니다. 그런데 현업에서는 그걸 그대로 반영할 수 없습니다.</a:t>
            </a:r>
          </a:p>
          <a:p>
            <a:r>
              <a:t>- 첫째, 근거가 없습니다. 왜 거기를 고쳤는지 모르면 담당자가 처음부터 다시 봐야 합니다.</a:t>
            </a:r>
          </a:p>
          <a:p>
            <a:r>
              <a:t>- 둘째, 다른 동작이 깨졌는지는 여전히 사람 몫입니다. "테스트 통과했습니다"라는 말만으로는 반영할 수 없습니다.</a:t>
            </a:r>
          </a:p>
          <a:p>
            <a:r>
              <a:t>- 셋째, 엉뚱한 요청도 고칩니다. 실제로 'test / 집가고싶다'라는 장난 티켓을 넣었더니, 코드에 있던 다른 결함을 고치고 검증까지 통과했습니다.</a:t>
            </a:r>
          </a:p>
          <a:p>
            <a:r>
              <a:t>  → (복선) "이 티켓은 시연에서 다시 보여 드리겠습니다."</a:t>
            </a:r>
          </a:p>
          <a:p>
            <a:endParaRPr/>
          </a:p>
          <a:p>
            <a:r>
              <a:t>주의: 1~2시간은 기획 단계 가정치. 강조하지 않습니다.</a:t>
            </a:r>
          </a:p>
          <a:p>
            <a:r>
              <a:t>넘어가는 말: "그래서 목표를 이렇게 잡았습니다."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[45초] 핵심: 고치는 AI가 아니라, 믿고 판단하게 넘겨주는 AI</a:t>
            </a:r>
          </a:p>
          <a:p>
            <a:endParaRPr/>
          </a:p>
          <a:p>
            <a:r>
              <a:t>말할 것</a:t>
            </a:r>
          </a:p>
          <a:p>
            <a:r>
              <a:t>- 지금은 티켓 읽기부터 배포 요청까지 사람이 다 합니다 (위 줄, 전부 진한 색).</a:t>
            </a:r>
          </a:p>
          <a:p>
            <a:r>
              <a:t>- RedFix에서는 담당자가 티켓을 등록하면 중간 과정은 평균 5분 안에 자동으로 처리되고, 담당자는 근거와 바뀐 코드, 검증 결과를 보고 승인하거나 반려합니다.</a:t>
            </a:r>
          </a:p>
          <a:p>
            <a:r>
              <a:t>- 막혔을 때가 중요합니다. 요청이 모호하거나, 원인을 확신하지 못하거나, 세 번 고쳐도 검증을 못 넘으면 억지로 고치지 않고 이유를 붙여 사람에게 넘깁니다.</a:t>
            </a:r>
          </a:p>
          <a:p>
            <a:endParaRPr/>
          </a:p>
          <a:p>
            <a:r>
              <a:t>넘어가는 말: "전체 흐름부터 보여 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흐름은 고정, 통과 여부는 코드가, 막히는 곳마다 멈춘다, 마지막은 사람</a:t>
            </a:r>
          </a:p>
          <a:p>
            <a:endParaRPr/>
          </a:p>
          <a:p>
            <a:r>
              <a:t>말할 것 (왼쪽 → 오른쪽으로 손으로 따라가며)</a:t>
            </a:r>
          </a:p>
          <a:p>
            <a:r>
              <a:t>- 기획 단계부터 이 순서를 고정해 두고, 프레임워크 없이 Python으로 직접 짠 워크플로 그래프로 돌립니다.</a:t>
            </a:r>
          </a:p>
          <a:p>
            <a:r>
              <a:t>- 접수 검사: 수정 요청인지 LLM이 먼저 봅니다. LLM이 인용한 증상이 티켓에 글자 그대로 있는지는 코드가 확인합니다.</a:t>
            </a:r>
          </a:p>
          <a:p>
            <a:r>
              <a:t>- 분석 에이전트: 결함 위치 예측 모델로 후보를 좁히고, RAG로 사내 규칙 40건과 과거 장애 이력을 찾아 근거를 붙이고, 재현 테스트를 씁니다.</a:t>
            </a:r>
          </a:p>
          <a:p>
            <a:r>
              <a:t>- 가운데 검증 루프: 수정 에이전트가 고치고, 공격 에이전트가 덜 고친 곳과 깨진 곳을 찾는 입력을 만들고, 판정 노드가 통과 여부를 정합니다.</a:t>
            </a:r>
          </a:p>
          <a:p>
            <a:r>
              <a:t>- 판정이 실패하면 실패 내용을 붙여 수정부터 다시, 최대 3번입니다. 통과하면 사람 승인으로 넘어갑니다.</a:t>
            </a:r>
          </a:p>
          <a:p>
            <a:endParaRPr/>
          </a:p>
          <a:p>
            <a:r>
              <a:t>강조 1 (아래 회색 상자 첫 줄): "판정에는 LLM이 없습니다. 기존 테스트 1,145개, 정답 구현과 입력 200개 비교, 공격 에이전트가 낸 입력까지 코드가 직접 다시 실행합니다. LLM이 LLM을 검사하는 구조가 아닙니다."</a:t>
            </a:r>
          </a:p>
          <a:p>
            <a:r>
              <a:t>강조 2 (노란 상자 세 개): "막히는 곳이 세 군데입니다. 수정 요청이 아니면 보완 요청, 원인을 확신 못 하면 사람 검토, 3번 넘게 실패하면 사람 검토. 억지로 고치지 않습니다."</a:t>
            </a:r>
          </a:p>
          <a:p>
            <a:endParaRPr/>
          </a:p>
          <a:p>
            <a:r>
              <a:t>(시간 있으면) 수정은 티켓별 작업본에서 대상 함수와 import만 바꿀 수 있고, 테스트는 고칠 수 없습니다.</a:t>
            </a:r>
          </a:p>
          <a:p>
            <a:r>
              <a:t>넘어가는 말: "분석 단계의 예측 모델은 데이터부터 직접 만들어 학습했습니다."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공개 데이터가 없어 직접 만들었고, 정답 라벨은 자동, 평가 결함은 새지 않게</a:t>
            </a:r>
          </a:p>
          <a:p>
            <a:endParaRPr/>
          </a:p>
          <a:p>
            <a:r>
              <a:t>말할 것 (위 흐름 → 아래 원칙)</a:t>
            </a:r>
          </a:p>
          <a:p>
            <a:r>
              <a:t>- 결함 위치 예측 모델을 만들려면 '티켓 문장 → 정답 함수' 쌍이 많이 필요한데, 공개된 한국어 데이터가 없습니다. 그래서 직접 만들었습니다.</a:t>
            </a:r>
          </a:p>
          <a:p>
            <a:r>
              <a:t>- ① 주문·정산 업무의 가상 레거시 프로젝트를 만들었습니다. 모듈 20개, 함수 268개, 테스트 1,145개입니다.</a:t>
            </a:r>
          </a:p>
          <a:p>
            <a:r>
              <a:t>- ② 결함은 두 방식으로 심었습니다. 연산자 하나를 바꾸는 AST 뮤테이션 11종은 mutmut이 Windows에서 돌지 않아 직접 구현했고, 업무 로직을 잘못 이해한 결함은 LLM에게 제안받아 코드로 검증했습니다.</a:t>
            </a:r>
          </a:p>
          <a:p>
            <a:r>
              <a:t>- ③ 결함을 심은 복사본에서 테스트를 돌려, 테스트가 깨지는 것만 1,341개 채택했습니다.</a:t>
            </a:r>
          </a:p>
          <a:p>
            <a:r>
              <a:t>- ④ 결함마다 LLM이 운영 담당자 말투와 QA 말투로 티켓을 2건씩, 총 2,678건 썼습니다.</a:t>
            </a:r>
          </a:p>
          <a:p>
            <a:r>
              <a:t>- ⑤ 결함 단위로 학습·평가·홀드아웃으로 나눴습니다.</a:t>
            </a:r>
          </a:p>
          <a:p>
            <a:endParaRPr/>
          </a:p>
          <a:p>
            <a:r>
              <a:t>아래 원칙 세 가지 (강조)</a:t>
            </a:r>
          </a:p>
          <a:p>
            <a:r>
              <a:t>- 결함을 직접 심었으니 정답 함수를 사람이 라벨링하지 않아도 정확합니다.</a:t>
            </a:r>
          </a:p>
          <a:p>
            <a:r>
              <a:t>- 티켓에 원인이 새지 않게, LLM에게는 결함 코드를 주지 않고 증상만 줬습니다. 함수명이 들어가면 다시 쓰게 했습니다.</a:t>
            </a:r>
          </a:p>
          <a:p>
            <a:r>
              <a:t>- 같은 결함의 티켓은 같은 분할에 두고, 홀드아웃 20개는 지식 베이스·프롬프트 예시·피처 어디에도 쓰지 않았습니다.</a:t>
            </a:r>
          </a:p>
          <a:p>
            <a:endParaRPr/>
          </a:p>
          <a:p>
            <a:r>
              <a:t>(시간 있으면) 처음엔 함수 108개로 만들었는데 결함 220개밖에 안 나와 과적합이 생겨서, 함수를 2배 넘게 늘렸습니다.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순위 학습 + 누수 없는 학습 절차 + 순위는 참고로만</a:t>
            </a:r>
          </a:p>
          <a:p>
            <a:endParaRPr/>
          </a:p>
          <a:p>
            <a:r>
              <a:t>말할 것</a:t>
            </a:r>
          </a:p>
          <a:p>
            <a:r>
              <a:t>- 티켓 하나가 들어오면 함수 268개에 점수를 매겨 순위를 냅니다. 분류가 아니라 (티켓, 함수) 쌍마다 피처를 계산하는 순위 학습이라, 함수 이름이 아니라 판단 패턴을 배웁니다.</a:t>
            </a:r>
          </a:p>
          <a:p>
            <a:r>
              <a:t>- 피처는 티켓과 함수 소스의 TF-IDF 유사도, bge-m3 임베딩 유사도, 스택트레이스에 그 함수가 나오는지, 함수 길이와 복잡도입니다.</a:t>
            </a:r>
          </a:p>
          <a:p>
            <a:r>
              <a:t>- 학습 절차: 평가 데이터를 보고 모델을 고르면 누수라서, 하이퍼파라미터는 학습 분할 안에서 결함 단위 5-fold로만 골랐고, 평가 분할은 마지막에 한 번만 봤습니다.</a:t>
            </a:r>
          </a:p>
          <a:p>
            <a:r>
              <a:t>- 결과: TF-IDF 0.523, 임베딩 0.790, 혼합형 XGBoost 0.803으로 목표 0.80을 넘었습니다.</a:t>
            </a:r>
          </a:p>
          <a:p>
            <a:endParaRPr/>
          </a:p>
          <a:p>
            <a:r>
              <a:t>오른쪽 결정 세 가지 (하나씩 한 문장)</a:t>
            </a:r>
          </a:p>
          <a:p>
            <a:r>
              <a:t>- 1차에는 학습 0.941, 평가 0.776으로 과적합이라, 앞에서 말씀드린 대로 대상 프로젝트를 늘려 차이를 0.02로 줄였습니다.</a:t>
            </a:r>
          </a:p>
          <a:p>
            <a:r>
              <a:t>- '과거 결함 수' 피처는 넣으면 점수가 오르지만, 처음 보는 함수에서는 0.263으로 무너져서 뺐습니다. 실제 운영에서는 이력 없는 함수가 대부분이기 때문입니다.</a:t>
            </a:r>
          </a:p>
          <a:p>
            <a:r>
              <a:t>- 스택트레이스가 없으면 0.779로 약합니다. 그래서 모델 순위는 참고 자료로 쓰고, 최종 위치는 에이전트가 코드를 읽고 정합니다. 후보마다 SHAP 근거 3개를 붙여 보여 줍니다.</a:t>
            </a:r>
          </a:p>
          <a:p>
            <a:endParaRPr/>
          </a:p>
          <a:p>
            <a:r>
              <a:t>넘어가는 말: "이제 담당자 화면으로 보여 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[3분 30초] 핵심: 담당자의 세 가지 결정 = 승인 / 보완 요청 / 반려</a:t>
            </a:r>
          </a:p>
          <a:p>
            <a:r>
              <a:t>(이 슬라이드를 10초 띄워 세 장면을 예고하고 화면 전환)</a:t>
            </a:r>
          </a:p>
          <a:p>
            <a:endParaRPr/>
          </a:p>
          <a:p>
            <a:r>
              <a:t>여는 말: "세 장면을 보여 드립니다. 믿을 만해서 승인하는 경우, 시스템이 스스로 멈추는 경우, 자동 검증은 통과했는데 담당자가 잡아내는 경우입니다. 실시간 실행은 3~6분 걸려서 실제 실행을 녹화한 재생 모드로 보여 드리고, 접수 검사만 실시간으로 돌리겠습니다."</a:t>
            </a:r>
          </a:p>
          <a:p>
            <a:endParaRPr/>
          </a:p>
          <a:p>
            <a:r>
              <a:t>① SR-2041 · 승인 (1분 30초) — 탭 A(재생)</a:t>
            </a:r>
          </a:p>
          <a:p>
            <a:r>
              <a:t> 1. SR-2041 → 요약 탭: "담당자는 여기서 시작합니다."</a:t>
            </a:r>
          </a:p>
          <a:p>
            <a:r>
              <a:t> 2. ★ 결함 위치 탭 → '모델 1위를 고르지 않은 이유' 펼치기: "앞에서 본 그 모델이 1위로 고른 함수가 아니라, 에이전트가 이유를 붙여 다른 함수를 골랐습니다. ML은 후보를 좁히고, 결정은 근거로 합니다."</a:t>
            </a:r>
          </a:p>
          <a:p>
            <a:r>
              <a:t> 3. 근거 탭 BIZ-CPN-01·02 → 패치 diff '바뀐 줄 표시': "규칙 두 개를 근거로 4줄만 고쳤습니다." (지나가며)</a:t>
            </a:r>
          </a:p>
          <a:p>
            <a:r>
              <a:t> 4. ★ 공격 로그 탭 판정 결과 열 '문제 아님': "공격 에이전트가 덜 고쳤다고 주장해도, 판정이 그 입력을 다시 돌려 정답과 같으면 기각합니다."</a:t>
            </a:r>
          </a:p>
          <a:p>
            <a:r>
              <a:t> ⚠ S1은 학습 분할에 있는 결함. "흐름을 보여 드리는 티켓"이라고 소개.</a:t>
            </a:r>
          </a:p>
          <a:p>
            <a:r>
              <a:t> 마무리: "담당자의 결정, 승인입니다."</a:t>
            </a:r>
          </a:p>
          <a:p>
            <a:endParaRPr/>
          </a:p>
          <a:p>
            <a:r>
              <a:t>② 접수 검사 · 보완 요청 (40초) — 탭 B(실시간)</a:t>
            </a:r>
          </a:p>
          <a:p>
            <a:r>
              <a:t> 1. 새 티켓 등록: 결함 수정 / 제목 '정산 문의' / 본문 '정산 관련해서 확인 부탁드립니다.' → 등록 → 실행</a:t>
            </a:r>
          </a:p>
          <a:p>
            <a:r>
              <a:t> 2. "이건 지금 바로 돌려 보겠습니다." → 수 초 안에 보완 요청</a:t>
            </a:r>
          </a:p>
          <a:p>
            <a:r>
              <a:t> 3. ★ "아까 말씀드린 '집가고싶다' 같은 티켓이 이제는 여기서 멈춥니다. LLM이 증상을 지어내도, 티켓에 없는 문장이면 코드가 막습니다."</a:t>
            </a:r>
          </a:p>
          <a:p>
            <a:r>
              <a:t> 4. 삭제. 마무리: "담당자의 결정, 보완 요청입니다."</a:t>
            </a:r>
          </a:p>
          <a:p>
            <a:endParaRPr/>
          </a:p>
          <a:p>
            <a:r>
              <a:t>③ 케이스 C · 반려 (1분 20초) — 탭 A(재생) DEMO-C</a:t>
            </a:r>
          </a:p>
          <a:p>
            <a:r>
              <a:t> 1. ★ "학습에도, 과거 이력에도 없는 처음 보는 결함입니다. 판정은 통과했습니다."</a:t>
            </a:r>
          </a:p>
          <a:p>
            <a:r>
              <a:t> 2. ★ 결함 위치 탭: 에이전트가 "db.query_one은 결과가 없으면 빈 dict를 반환"이라고 원인을 적고도, 패치는 호출부 coupon.find_coupon만 감쌌습니다.</a:t>
            </a:r>
          </a:p>
          <a:p>
            <a:r>
              <a:t> 3. 판정 조건 탭 '미평가': "시스템이 스스로 확인 못 했다고 알려 줍니다." (시간 없으면 생략)</a:t>
            </a:r>
          </a:p>
          <a:p>
            <a:r>
              <a:t> 4. ★ 반려 → 사유 입력 → 정답 확인: 숨긴 테스트 19개 실패, "담당자의 반려가 맞았습니다."</a:t>
            </a:r>
          </a:p>
          <a:p>
            <a:r>
              <a:t> 마무리: "자동 검증은 여기까지 해 주고, 나머지는 담당자가 근거를 보고 결정합니다."</a:t>
            </a:r>
          </a:p>
          <a:p>
            <a:endParaRPr/>
          </a:p>
          <a:p>
            <a:r>
              <a:t>줄이는 순서: ①-3 → ③-3. ②와 ③-4는 끝까지.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기준은 하나, "담당자가 이 결과를 믿을 수 있나"</a:t>
            </a:r>
          </a:p>
          <a:p>
            <a:endParaRPr/>
          </a:p>
          <a:p>
            <a:r>
              <a:t>말할 것 (행마다 '부딪힌 것 → 결정' 한 문장)</a:t>
            </a:r>
          </a:p>
          <a:p>
            <a:r>
              <a:t>- 판정: 공격이 회귀를 찾아도 판정이 그 입력을 다시 보지 않으면 그냥 통과되는 빈틈이 있었고, 실제로 누출이 2건 났습니다. 공격 입력을 판정이 전부 다시 실행하게 했고 누출은 0건이 됐습니다. S2가 그 사례로, 시간대 회귀로 판정 1이 실패하고 재시도 끝에 통과했습니다.</a:t>
            </a:r>
          </a:p>
          <a:p>
            <a:r>
              <a:t>- 예측 모델: 시연 티켓에서 정답이 1위가 아니었습니다. 담당자에게 필요한 건 순위가 아니라 '왜 여기인가'라서 모델은 참고 자료로 내렸습니다.</a:t>
            </a:r>
          </a:p>
          <a:p>
            <a:r>
              <a:t>- 화면: 숫자 카드와 긴 로그로는 판단이 안 돼서, 질문마다 탭 하나로 바꾸고 자동으로 확인 못 한 조건은 숨기지 않고 보여 줍니다.</a:t>
            </a:r>
          </a:p>
          <a:p>
            <a:r>
              <a:t>- 비용: 같은 코드를 반복해서 읽고 있어서 미리 넣어 주고 재시도 공격을 줄였더니, 토큰이 39% 줄었고 해결률은 오히려 올랐습니다.</a:t>
            </a:r>
          </a:p>
          <a:p>
            <a:endParaRPr/>
          </a:p>
          <a:p>
            <a:r>
              <a:t>강조: 효과 열(초록), 특히 "누출 2건 → 0건".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기획서에서 정한 목표 8개를 모두 넘었다. 다만 두 개는 여유가 작다고 먼저 말한다</a:t>
            </a:r>
          </a:p>
          <a:p>
            <a:endParaRPr/>
          </a:p>
          <a:p>
            <a:r>
              <a:t>말할 것</a:t>
            </a:r>
          </a:p>
          <a:p>
            <a:r>
              <a:t>- 기획 단계에서 정한 목표 8개와 결과입니다.</a:t>
            </a:r>
          </a:p>
          <a:p>
            <a:r>
              <a:t>- 가장 중요한 건 위 세 줄입니다. 학습에도 이력에도 없는 처음 보는 결함 20건 중 19건을 사람 개입 없이 해결했고, 판정을 통과한 패치를 숨긴 테스트로 다시 돌렸을 때 회귀 누출은 0건, SR 한 건 평균 5.1분입니다.</a:t>
            </a:r>
          </a:p>
          <a:p>
            <a:r>
              <a:t>- 공격 탐지 10건 모두, 근거 인용 100%, 시연 3유형 모두 자동 검증을 통과했습니다.</a:t>
            </a:r>
          </a:p>
          <a:p>
            <a:r>
              <a:t>- 아래 두 줄(노란색)은 정직하게 말씀드립니다. 위치 예측 0.803은 목표선 바로 위라 다시 재면 0.80 아래로 나올 수도 있고, 예측 도구 기여 +5%p는 20건 중 1건 차이입니다.</a:t>
            </a:r>
          </a:p>
          <a:p>
            <a:r>
              <a:t>- 비용은 티켓당 평균 40센트 정도이고, 못 푼 1건이 시연에서 보신 db.query_one 결함입니다.</a:t>
            </a:r>
          </a:p>
          <a:p>
            <a:endParaRPr/>
          </a:p>
          <a:p>
            <a:r>
              <a:t>기능별 기여 (슬라이드 없이 말로, 30초)</a:t>
            </a:r>
          </a:p>
          <a:p>
            <a:r>
              <a:t>- "같은 20건을 기능을 하나씩 끄고 다시 돌렸습니다."</a:t>
            </a:r>
          </a:p>
          <a:p>
            <a:r>
              <a:t>- 예측 도구를 끄면 해결률이 95% → 90%. 1건 차이라 크게 주장하지 않습니다. 토큰은 티켓당 약 1.1만 줄었습니다.</a:t>
            </a:r>
          </a:p>
          <a:p>
            <a:r>
              <a:t>- 공격 단계를 꺼도 이번 20건은 누출 0건이었습니다. 단일 함수 결함이라 기존 테스트로 충분했던 것으로 봅니다(대신 수정 시도 0.95 → 1.15회).</a:t>
            </a:r>
          </a:p>
          <a:p>
            <a:r>
              <a:t>- "공격이 필요한 건 테스트가 못 잡는 경우입니다. 기존 테스트로는 안 잡히게 일부러 덜 고친 패치 10건을 공격이 모두 찾았습니다." (공격 탐지율 줄을 가리킴)</a:t>
            </a:r>
          </a:p>
          <a:p>
            <a:endParaRPr/>
          </a:p>
          <a:p>
            <a:r>
              <a:t>넘어가는 말: "그래서 남은 과제는 이렇습니다."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[30초] 핵심: 약점을 다음 단계로 + 마무리 한 문장</a:t>
            </a:r>
          </a:p>
          <a:p>
            <a:endParaRPr/>
          </a:p>
          <a:p>
            <a:r>
              <a:t>말할 것</a:t>
            </a:r>
          </a:p>
          <a:p>
            <a:r>
              <a:t>- 지금 확인한 한계와 다음 단계입니다.</a:t>
            </a:r>
          </a:p>
          <a:p>
            <a:r>
              <a:t>- 보신 것처럼 공통 함수나 여러 파일에 걸친 수정은 아직 약해서, 호출 관계를 따라 수정 범위를 넓히는 쪽으로 개선하려 합니다.</a:t>
            </a:r>
          </a:p>
          <a:p>
            <a:r>
              <a:t>- 실제 티켓은 정답이 없어 일부 조건이 미평가로 남습니다. 입력 규칙을 자동으로 추론해 비교 범위를 넓히는 것이 다음 과제입니다.</a:t>
            </a:r>
          </a:p>
          <a:p>
            <a:r>
              <a:t>- 예측 모델과 평가 표본, 실제 사내 데이터 검증도 다음 단계입니다. (나머지 세 줄은 빠르게)</a:t>
            </a:r>
          </a:p>
          <a:p>
            <a:endParaRPr/>
          </a:p>
          <a:p>
            <a:r>
              <a:t>마무리 (천천히)</a:t>
            </a:r>
          </a:p>
          <a:p>
            <a:r>
              <a:t>- "RedFix는 담당자를 대신하지 않습니다. 근거와 검증 결과로, 담당자가 빠르고 안전하게 결정하게 돕습니다. 감사합니다."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SCSA27 · AI AGENT 프로젝트 최종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F5A66"/>
                </a:solidFill>
                <a:latin typeface="Malgun Gothic"/>
                <a:ea typeface="Malgun Gothic"/>
                <a:cs typeface="Malgun Gothic"/>
              </a:rPr>
              <a:t>Red</a:t>
            </a:r>
            <a:r>
              <a:rPr sz="8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개발자가 근거를 보고 믿고 승인할 수 있는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 요청(SR) 처리 에이전트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 검사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2157984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14016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14016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4023359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79392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5888736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44768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공격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7754112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10144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0144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9619488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0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3DB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A21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5193792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DBE95"/>
                </a:solidFill>
                <a:latin typeface="Malgun Gothic"/>
                <a:ea typeface="Malgun Gothic"/>
                <a:cs typeface="Malgun Gothic"/>
              </a:rPr>
              <a:t>사람이 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이종협  ·  2026.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01 ·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LLM은 금방 고친다. 그런데 그대로 반영할 수 있나?</a:t>
            </a:r>
          </a:p>
        </p:txBody>
      </p:sp>
      <p:sp>
        <p:nvSpPr>
          <p:cNvPr id="4" name="problem-1"/>
          <p:cNvSpPr/>
          <p:nvPr/>
        </p:nvSpPr>
        <p:spPr>
          <a:xfrm>
            <a:off x="548640" y="1783080"/>
            <a:ext cx="3454298" cy="2788920"/>
          </a:xfrm>
          <a:prstGeom prst="roundRect">
            <a:avLst>
              <a:gd name="adj" fmla="val 393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근거가 없다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10712"/>
            <a:ext cx="281421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왜 거기를 고쳤는지 모르면 담당자가 처음부터 다시 봐야 한다</a:t>
            </a:r>
          </a:p>
        </p:txBody>
      </p:sp>
      <p:sp>
        <p:nvSpPr>
          <p:cNvPr id="9" name="problem-2"/>
          <p:cNvSpPr/>
          <p:nvPr/>
        </p:nvSpPr>
        <p:spPr>
          <a:xfrm>
            <a:off x="4368698" y="1783080"/>
            <a:ext cx="3454298" cy="2788920"/>
          </a:xfrm>
          <a:prstGeom prst="roundRect">
            <a:avLst>
              <a:gd name="adj" fmla="val 393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88738" y="2103120"/>
            <a:ext cx="548640" cy="548640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8738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288036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회귀 확인은 사람 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8738" y="3410712"/>
            <a:ext cx="281421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"테스트 통과했습니다"라는 LLM의 말만으로는 반영할 수 없다</a:t>
            </a:r>
          </a:p>
        </p:txBody>
      </p:sp>
      <p:sp>
        <p:nvSpPr>
          <p:cNvPr id="14" name="problem-3"/>
          <p:cNvSpPr/>
          <p:nvPr/>
        </p:nvSpPr>
        <p:spPr>
          <a:xfrm>
            <a:off x="8188756" y="1783080"/>
            <a:ext cx="3454298" cy="2788920"/>
          </a:xfrm>
          <a:prstGeom prst="roundRect">
            <a:avLst>
              <a:gd name="adj" fmla="val 3934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08796" y="2103120"/>
            <a:ext cx="548640" cy="548640"/>
          </a:xfrm>
          <a:prstGeom prst="ellips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8796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8796" y="288036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엉뚱한 요청도 고친다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8796" y="3410712"/>
            <a:ext cx="281421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"test / 집가고싶다" 티켓이 코드에 있던 다른 결함을 고치고 검증까지 통과했다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2592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1~2시간*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286633"/>
            <a:ext cx="83512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현업 SR 한 건에서 원인 위치 찾기 · 회귀 확인 · 사내 규칙과 장애 이력 대조에 드는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577840"/>
            <a:ext cx="835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* 기획 단계 가정치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  <a:endParaRPr sz="1100" b="1" i="0" dirty="0">
              <a:solidFill>
                <a:srgbClr val="5B62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02 · 해결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고치는 AI가 아니라, 믿고 판단하게 넘겨주는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92807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585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사람이 전부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티켓 읽기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 찾기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1~2시간*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회귀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규칙·이력 대조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8700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배포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8152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47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담당자는 결정만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297180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57400" y="297180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티켓 등록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2971800"/>
            <a:ext cx="4754880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297180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자동 처리 · 평균 5.1분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접수 검사 → 분석 → 수정 → 공격 → 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97180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297180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근거·diff·검증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297180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87000" y="297180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/ 반려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4123944"/>
            <a:ext cx="182880" cy="18288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40279" y="4069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담당자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4680" y="4123944"/>
            <a:ext cx="182880" cy="18288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29000" y="4069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자동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1772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818888"/>
            <a:ext cx="104543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막히면 억지로 고치지 않고, 사유를 붙여 사람에게 넘긴다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367528"/>
            <a:ext cx="448056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36752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보완 요청 · 수정 요청으로 볼 수 없음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5367528"/>
            <a:ext cx="192024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77840" y="536752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원인 확신 불가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80" y="5367528"/>
            <a:ext cx="356616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26680" y="536752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재시도 3회 초과 → 사람 검토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03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분석 → (수정 → 공격 → 판정) 반복 → 승인</a:t>
            </a:r>
          </a:p>
        </p:txBody>
      </p:sp>
      <p:sp>
        <p:nvSpPr>
          <p:cNvPr id="4" name="verify-loop"/>
          <p:cNvSpPr/>
          <p:nvPr/>
        </p:nvSpPr>
        <p:spPr>
          <a:xfrm>
            <a:off x="4251960" y="1828800"/>
            <a:ext cx="5486400" cy="1874519"/>
          </a:xfrm>
          <a:prstGeom prst="roundRect">
            <a:avLst>
              <a:gd name="adj" fmla="val 5853"/>
            </a:avLst>
          </a:prstGeom>
          <a:solidFill>
            <a:srgbClr val="F3F4F6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34840" y="19385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검증 루프 · 최대 3회</a:t>
            </a:r>
          </a:p>
        </p:txBody>
      </p:sp>
      <p:sp>
        <p:nvSpPr>
          <p:cNvPr id="6" name="node-1"/>
          <p:cNvSpPr/>
          <p:nvPr/>
        </p:nvSpPr>
        <p:spPr>
          <a:xfrm>
            <a:off x="548640" y="2331720"/>
            <a:ext cx="141732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LLM + 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79"/>
            <a:ext cx="1143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접수</a:t>
            </a:r>
            <a:r>
              <a:rPr sz="1400" b="1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검사</a:t>
            </a:r>
            <a:endParaRPr sz="1400" b="1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026663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수정 요청인지 확인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052828" y="2784348"/>
            <a:ext cx="146304" cy="146304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ode-2"/>
          <p:cNvSpPr/>
          <p:nvPr/>
        </p:nvSpPr>
        <p:spPr>
          <a:xfrm>
            <a:off x="2286000" y="2331720"/>
            <a:ext cx="164592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24597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97479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1400" b="1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endParaRPr sz="1400" b="1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7440" y="3026663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위치·근거·재현 테스트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110227" y="2784348"/>
            <a:ext cx="146304" cy="146304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ode-3"/>
          <p:cNvSpPr/>
          <p:nvPr/>
        </p:nvSpPr>
        <p:spPr>
          <a:xfrm>
            <a:off x="4434840" y="2331720"/>
            <a:ext cx="155448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4597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97479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400" b="1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endParaRPr sz="1400" b="1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6279" y="302666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규칙 반영 패치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6030468" y="2784348"/>
            <a:ext cx="146304" cy="146304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ode-4"/>
          <p:cNvSpPr/>
          <p:nvPr/>
        </p:nvSpPr>
        <p:spPr>
          <a:xfrm>
            <a:off x="6217920" y="2331720"/>
            <a:ext cx="155448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4597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97479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 에이전트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02666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덜 고친 곳 · 회귀 탐색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7813548" y="2784348"/>
            <a:ext cx="146304" cy="146304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ode-5"/>
          <p:cNvSpPr/>
          <p:nvPr/>
        </p:nvSpPr>
        <p:spPr>
          <a:xfrm>
            <a:off x="8001000" y="2331720"/>
            <a:ext cx="1554480" cy="1051560"/>
          </a:xfrm>
          <a:prstGeom prst="roundRect">
            <a:avLst>
              <a:gd name="adj" fmla="val 10434"/>
            </a:avLst>
          </a:prstGeom>
          <a:solidFill>
            <a:srgbClr val="FBE7E9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24597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697479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판정 노드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02666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통과 조건 검사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9733788" y="2784348"/>
            <a:ext cx="146304" cy="146304"/>
          </a:xfrm>
          <a:prstGeom prst="triangl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ode-6"/>
          <p:cNvSpPr/>
          <p:nvPr/>
        </p:nvSpPr>
        <p:spPr>
          <a:xfrm>
            <a:off x="10058400" y="2331720"/>
            <a:ext cx="1463040" cy="1051560"/>
          </a:xfrm>
          <a:prstGeom prst="roundRect">
            <a:avLst>
              <a:gd name="adj" fmla="val 10434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95560" y="245973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DBE95"/>
                </a:solidFill>
                <a:latin typeface="Malgun Gothic"/>
                <a:ea typeface="Malgun Gothic"/>
                <a:cs typeface="Malgun Gothic"/>
              </a:rPr>
              <a:t>HUMAN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697479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026663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승인 / 반려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64524" y="3383279"/>
            <a:ext cx="27432" cy="56692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198364" y="3950208"/>
            <a:ext cx="3593591" cy="27432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98364" y="3511296"/>
            <a:ext cx="27432" cy="438912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Isosceles Triangle 38"/>
          <p:cNvSpPr/>
          <p:nvPr/>
        </p:nvSpPr>
        <p:spPr>
          <a:xfrm>
            <a:off x="5129784" y="3383279"/>
            <a:ext cx="164592" cy="164592"/>
          </a:xfrm>
          <a:prstGeom prst="triangl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94960" y="4023360"/>
            <a:ext cx="3200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판정 실패 → 실패 내용을 붙여 수정부터 다시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46327" y="3383279"/>
            <a:ext cx="21945" cy="1143000"/>
          </a:xfrm>
          <a:prstGeom prst="rect">
            <a:avLst/>
          </a:prstGeom>
          <a:solidFill>
            <a:srgbClr val="9A6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4526280"/>
            <a:ext cx="1417320" cy="566928"/>
          </a:xfrm>
          <a:prstGeom prst="roundRect">
            <a:avLst>
              <a:gd name="adj" fmla="val 22580"/>
            </a:avLst>
          </a:prstGeom>
          <a:solidFill>
            <a:srgbClr val="FFF4E0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5720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보완 요청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82803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수정 요청이 아님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7987" y="3383279"/>
            <a:ext cx="21945" cy="1143000"/>
          </a:xfrm>
          <a:prstGeom prst="rect">
            <a:avLst/>
          </a:prstGeom>
          <a:solidFill>
            <a:srgbClr val="9A6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286000" y="4526280"/>
            <a:ext cx="1645920" cy="566928"/>
          </a:xfrm>
          <a:prstGeom prst="roundRect">
            <a:avLst>
              <a:gd name="adj" fmla="val 22580"/>
            </a:avLst>
          </a:prstGeom>
          <a:solidFill>
            <a:srgbClr val="FFF4E0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0" y="4572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사람 검토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82803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원인 확신 불가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07347" y="3703320"/>
            <a:ext cx="21945" cy="822960"/>
          </a:xfrm>
          <a:prstGeom prst="rect">
            <a:avLst/>
          </a:prstGeom>
          <a:solidFill>
            <a:srgbClr val="9A6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915400" y="4526280"/>
            <a:ext cx="1645920" cy="566928"/>
          </a:xfrm>
          <a:prstGeom prst="roundRect">
            <a:avLst>
              <a:gd name="adj" fmla="val 22580"/>
            </a:avLst>
          </a:prstGeom>
          <a:solidFill>
            <a:srgbClr val="FFF4E0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15400" y="4572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사람 검토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82803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재시도 3회 초과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468172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← 막히면 억지로 고치지 않고 멈춘다 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959" y="534924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판정 노드: </a:t>
            </a: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기존 테스트 1,145개 · 정답 구현과 입력 200개 비교 · 공격 입력 재실행, LLM 호출 없음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수정은 티켓별 작업본의 대상 함수·import만, 테스트 수정 불가 · 에이전트별 도구 분석 8 · 수정 7 · 공격 6 · 노드 사이에는 JSON만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04 ·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공개 데이터가 없어, 결함을 직접 심고 티켓을 만들었다</a:t>
            </a:r>
          </a:p>
        </p:txBody>
      </p:sp>
      <p:sp>
        <p:nvSpPr>
          <p:cNvPr id="4" name="data-1"/>
          <p:cNvSpPr/>
          <p:nvPr/>
        </p:nvSpPr>
        <p:spPr>
          <a:xfrm>
            <a:off x="548640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1  대상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268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가상 주문·정산 레거시 모듈 20개 · 테스트 1,145개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2621219" y="2884932"/>
            <a:ext cx="128016" cy="128016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ata-2"/>
          <p:cNvSpPr/>
          <p:nvPr/>
        </p:nvSpPr>
        <p:spPr>
          <a:xfrm>
            <a:off x="2822387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50987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2  결함 주입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987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2종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0987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0987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AST 뮤테이션 11종(직접 구현) + LLM 업무 로직 결함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894966" y="2884932"/>
            <a:ext cx="128016" cy="128016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ata-3"/>
          <p:cNvSpPr/>
          <p:nvPr/>
        </p:nvSpPr>
        <p:spPr>
          <a:xfrm>
            <a:off x="5096134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4734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3  테스트로 선별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4734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1,341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4734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4734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테스트가 깨지는 것만 채택 · AST 853 + LLM 488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7168713" y="2884932"/>
            <a:ext cx="128016" cy="128016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ata-4"/>
          <p:cNvSpPr/>
          <p:nvPr/>
        </p:nvSpPr>
        <p:spPr>
          <a:xfrm>
            <a:off x="7369881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98481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4  티켓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481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2,678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481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481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결함마다 운영·QA 말투 2건 · 스택트레이스 15.6%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9442460" y="2884932"/>
            <a:ext cx="128016" cy="128016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ata-5"/>
          <p:cNvSpPr/>
          <p:nvPr/>
        </p:nvSpPr>
        <p:spPr>
          <a:xfrm>
            <a:off x="9643628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2228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5  결함 단위 분할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2228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2228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홀드아웃 결함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2228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학습 1,057 · 평가 262 · E2E 20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43400"/>
            <a:ext cx="3515258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" y="4526280"/>
            <a:ext cx="29666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정답 라벨은 자동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910328"/>
            <a:ext cx="29666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결함을 직접 심었으니 정답 함수를 사람이 라벨링하지 않아도 정확하다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8218" y="4343400"/>
            <a:ext cx="3515258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2538" y="4526280"/>
            <a:ext cx="29666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티켓에 원인을 쓰지 않게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2538" y="4910328"/>
            <a:ext cx="29666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LLM에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결함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diff·코드를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주지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않음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함수명이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들어가면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재시도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그래도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남으면</a:t>
            </a:r>
            <a:r>
              <a:rPr sz="13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제외</a:t>
            </a:r>
            <a:endParaRPr sz="1300" b="0" i="0" dirty="0">
              <a:solidFill>
                <a:srgbClr val="5B62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127796" y="4343400"/>
            <a:ext cx="3515258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02116" y="4526280"/>
            <a:ext cx="29666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평가 결함이 새지 않게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2116" y="4910328"/>
            <a:ext cx="29666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같은 결함의 티켓은 같은 분할. 홀드아웃은 KB·프롬프트 예시·피처에서 제외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1109441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RAG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지식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사내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규칙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40건 +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결함으로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만든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장애·조치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이력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1,057</a:t>
            </a:r>
            <a:r>
              <a:rPr sz="1200" b="0" i="0" dirty="0" smtClean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건</a:t>
            </a:r>
            <a:endParaRPr sz="1200" b="0" i="0" dirty="0">
              <a:solidFill>
                <a:srgbClr val="5B62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05 · 결함 위치 예측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티켓마다 함수 268개의 순위를 매기도록 학습했다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4228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97967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문제 정의 · 순위 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45436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티켓 × 후보 함수 한 쌍마다 피처를 계산하고, XGBoost Ranker가 점수를 매겨 정렬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2985516"/>
            <a:ext cx="11978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985516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TF-IDF 유사도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2985516"/>
            <a:ext cx="11978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0552" y="2985516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bge-m3 임베딩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2985516"/>
            <a:ext cx="11978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38144" y="2985516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스택트레이스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45736" y="2985516"/>
            <a:ext cx="11978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45736" y="2985516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길이·복잡도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19956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학습 절차 · 평가 분할을 보고 고르지 않게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631436"/>
            <a:ext cx="329184" cy="329184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6314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88306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14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분할</a:t>
            </a:r>
            <a:r>
              <a:rPr sz="14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안에서</a:t>
            </a:r>
            <a:r>
              <a:rPr sz="14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결함</a:t>
            </a:r>
            <a:r>
              <a:rPr sz="14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단위</a:t>
            </a:r>
            <a:r>
              <a:rPr sz="14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5-fold로 </a:t>
            </a:r>
            <a:r>
              <a:rPr sz="14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하이퍼파라미터</a:t>
            </a:r>
            <a:r>
              <a:rPr sz="14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조합</a:t>
            </a:r>
            <a:r>
              <a:rPr sz="14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비교</a:t>
            </a:r>
            <a:endParaRPr sz="14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48640" y="5088636"/>
            <a:ext cx="329184" cy="329184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0886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88636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학습 분할 전체로 학습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545836"/>
            <a:ext cx="329184" cy="329184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5458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45836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평가 분할 524건으로 한 번만 평가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583680" y="1737360"/>
          <a:ext cx="5059375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83680" y="4251960"/>
            <a:ext cx="5059375" cy="566928"/>
          </a:xfrm>
          <a:prstGeom prst="roundRect">
            <a:avLst>
              <a:gd name="adj" fmla="val 1935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42519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1차 과적합 → 대상 2배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251960"/>
            <a:ext cx="190469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학습 0.941 / 평가 0.776 → 0.825 / 0.803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892040"/>
            <a:ext cx="5059375" cy="566928"/>
          </a:xfrm>
          <a:prstGeom prst="roundRect">
            <a:avLst>
              <a:gd name="adj" fmla="val 1935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489204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'과거 결함 수' 피처 제외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892040"/>
            <a:ext cx="190469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처음 보는 함수에서 Top-3 0.263으로 무너짐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5532120"/>
            <a:ext cx="5059375" cy="566928"/>
          </a:xfrm>
          <a:prstGeom prst="roundRect">
            <a:avLst>
              <a:gd name="adj" fmla="val 1935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553212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트레이스 유무 0.938 / 0.779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5532120"/>
            <a:ext cx="190469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그래서 순위는 참고, 최종 위치는 에이전트가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66"/>
                </a:solidFill>
                <a:latin typeface="Malgun Gothic"/>
                <a:ea typeface="Malgun Gothic"/>
                <a:cs typeface="Malgun Gothic"/>
              </a:rPr>
              <a:t>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담당자의 세 가지 결정</a:t>
            </a:r>
          </a:p>
        </p:txBody>
      </p:sp>
      <p:sp>
        <p:nvSpPr>
          <p:cNvPr id="5" name="scene-1"/>
          <p:cNvSpPr/>
          <p:nvPr/>
        </p:nvSpPr>
        <p:spPr>
          <a:xfrm>
            <a:off x="548640" y="1815084"/>
            <a:ext cx="3454298" cy="3794760"/>
          </a:xfrm>
          <a:prstGeom prst="roundRect">
            <a:avLst>
              <a:gd name="adj" fmla="val 3176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221899"/>
            <a:ext cx="502920" cy="502920"/>
          </a:xfrm>
          <a:prstGeom prst="ellips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2189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3405" y="2370815"/>
            <a:ext cx="281421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 err="1" smtClean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결함</a:t>
            </a:r>
            <a:r>
              <a:rPr sz="1300" b="1" i="0" dirty="0" smtClean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1" i="0" dirty="0" err="1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수정</a:t>
            </a:r>
            <a:endParaRPr sz="1300" b="1" i="0" dirty="0">
              <a:solidFill>
                <a:srgbClr val="C9CED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0648" y="3190493"/>
            <a:ext cx="281421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쿠폰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2장이면 </a:t>
            </a:r>
            <a:endParaRPr lang="en-US" b="1" i="0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b="1" i="0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정산</a:t>
            </a:r>
            <a:r>
              <a:rPr b="1" i="0" dirty="0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금액이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음수</a:t>
            </a:r>
            <a:endParaRPr b="1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0648" y="4368966"/>
            <a:ext cx="28142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담당자의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648" y="4624998"/>
            <a:ext cx="2814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>
                <a:solidFill>
                  <a:srgbClr val="3DBE95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3000" b="1" i="0" dirty="0">
              <a:solidFill>
                <a:srgbClr val="3DBE9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scene-2"/>
          <p:cNvSpPr/>
          <p:nvPr/>
        </p:nvSpPr>
        <p:spPr>
          <a:xfrm>
            <a:off x="4368698" y="1815084"/>
            <a:ext cx="3454298" cy="3794760"/>
          </a:xfrm>
          <a:prstGeom prst="roundRect">
            <a:avLst>
              <a:gd name="adj" fmla="val 3176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88738" y="2221899"/>
            <a:ext cx="502920" cy="502920"/>
          </a:xfrm>
          <a:prstGeom prst="ellips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8738" y="222189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3463" y="2375667"/>
            <a:ext cx="281421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새 </a:t>
            </a:r>
            <a:r>
              <a:rPr sz="1300" b="1" i="0" dirty="0" err="1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티켓</a:t>
            </a:r>
            <a:r>
              <a:rPr sz="1300" b="1" i="0" dirty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300" b="1" i="0" dirty="0" err="1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접수</a:t>
            </a:r>
            <a:r>
              <a:rPr sz="1300" b="1" i="0" dirty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1" i="0" dirty="0" err="1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검사</a:t>
            </a:r>
            <a:endParaRPr sz="1300" b="1" i="0" dirty="0">
              <a:solidFill>
                <a:srgbClr val="C9CED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00706" y="3190493"/>
            <a:ext cx="281421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정산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b="1" i="0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b="1" i="0" dirty="0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부탁드립니다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706" y="4368966"/>
            <a:ext cx="28142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담당자의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706" y="4624998"/>
            <a:ext cx="281421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3000" b="1" dirty="0">
                <a:solidFill>
                  <a:srgbClr val="3DBE95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lang="ko-KR" altLang="en-US" sz="3000" b="1" dirty="0">
              <a:solidFill>
                <a:srgbClr val="3DBE9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scene-3"/>
          <p:cNvSpPr/>
          <p:nvPr/>
        </p:nvSpPr>
        <p:spPr>
          <a:xfrm>
            <a:off x="8188756" y="1815084"/>
            <a:ext cx="3454298" cy="3794760"/>
          </a:xfrm>
          <a:prstGeom prst="roundRect">
            <a:avLst>
              <a:gd name="adj" fmla="val 3176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08796" y="2221899"/>
            <a:ext cx="502920" cy="502920"/>
          </a:xfrm>
          <a:prstGeom prst="ellips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8796" y="222189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521" y="2375667"/>
            <a:ext cx="281421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dirty="0" smtClean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Query Injection</a:t>
            </a:r>
            <a:endParaRPr sz="1300" b="1" i="0" dirty="0">
              <a:solidFill>
                <a:srgbClr val="C9CED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20764" y="3190493"/>
            <a:ext cx="281421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조회 함수 db.query_one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0764" y="4368966"/>
            <a:ext cx="28142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담당자의 결정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0764" y="4624998"/>
            <a:ext cx="281421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000" b="1" i="0" dirty="0" smtClean="0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??</a:t>
            </a:r>
            <a:endParaRPr sz="3000" b="1" i="0" dirty="0">
              <a:solidFill>
                <a:srgbClr val="FFC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성공 · 멈춤 · 실패를 하나씩: 자동 검증이 어디까지 하고, 어디서 사람이 결정하는지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06 · 만들면서 바꾼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기준은 하나, "담당자가 이 결과를 믿을 수 있나"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부딪힌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9" y="1737360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37360"/>
            <a:ext cx="23618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공격이 찾은 회귀가 판정을 그냥 통과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103120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판정이 공격 입력을 전부 다시 실행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S2: 판정 1 실패 → 재시도 → 판정 2 통과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103120"/>
            <a:ext cx="21790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누출 2건 → 0건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59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312466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시연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티켓에서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500" b="0" i="0" dirty="0" smtClean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함수가</a:t>
            </a:r>
            <a:r>
              <a:rPr lang="en-US" sz="150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1위가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아님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1999" y="3312466"/>
            <a:ext cx="41605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예측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모델은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참고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자료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위치와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이유는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500" b="0" i="0" dirty="0" smtClean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에이전트가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81160" y="3108959"/>
            <a:ext cx="21790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순위 대신 "왜 여기인가"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4318307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숫자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카드와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150줄 </a:t>
            </a:r>
            <a:endParaRPr lang="en-US" sz="1500" b="0" i="0" dirty="0" smtClean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로그로는</a:t>
            </a:r>
            <a:r>
              <a:rPr lang="en-US" sz="150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판단이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안 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433724"/>
            <a:ext cx="41605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질문별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탭,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요약</a:t>
            </a:r>
            <a:r>
              <a:rPr lang="en-US" sz="150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및</a:t>
            </a:r>
            <a:r>
              <a:rPr lang="en-US"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조건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표시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81160" y="4114800"/>
            <a:ext cx="21790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요약 탭에서 바로 승인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324147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라운드마다</a:t>
            </a:r>
            <a:endParaRPr lang="en-US" sz="150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코드를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다시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읽</a:t>
            </a:r>
            <a:r>
              <a:rPr lang="ko-KR" altLang="en-US" sz="150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음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1999" y="5324147"/>
            <a:ext cx="41605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코드를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미리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넣고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재시도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500" b="0" i="0" dirty="0" smtClean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의심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관점</a:t>
            </a:r>
            <a:r>
              <a:rPr lang="ko-KR" altLang="en-US" sz="150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만 변경 진행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1160" y="5439564"/>
            <a:ext cx="217901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 err="1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1500" b="1" i="0" dirty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 -39</a:t>
            </a:r>
            <a:r>
              <a:rPr sz="1500" b="1" i="0" dirty="0" smtClean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%</a:t>
            </a:r>
            <a:endParaRPr sz="1500" b="1" i="0" dirty="0">
              <a:solidFill>
                <a:srgbClr val="1F8A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07 · 기획 목표 대비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lang="en-US" sz="3000" b="1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000" b="1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단계에서의 </a:t>
            </a:r>
            <a:r>
              <a:rPr sz="3000" b="1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목표</a:t>
            </a:r>
            <a:r>
              <a:rPr lang="en-US" sz="3000" b="1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000" b="1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달성 사항</a:t>
            </a:r>
            <a:endParaRPr sz="3000" b="1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956816"/>
            <a:ext cx="11094415" cy="438912"/>
          </a:xfrm>
          <a:prstGeom prst="roundRect">
            <a:avLst>
              <a:gd name="adj" fmla="val 16666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56816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956816"/>
            <a:ext cx="1280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56816"/>
            <a:ext cx="1325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56816"/>
            <a:ext cx="391363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어떻게 쟀나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1" y="1956816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323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E2E 해결률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43230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60% 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323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19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432304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처음 보는 결함 20건, 사람 개입 없이 판정 통과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0151" y="25146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60151" y="251460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9504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8895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회귀 누출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88950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1건 이하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895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889504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판정 통과 뒤 숨긴 테스트로 다시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60151" y="29718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60151" y="297180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46704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3467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SR당 처리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34670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2시간 → 15분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459888"/>
            <a:ext cx="13258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 err="1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평균</a:t>
            </a:r>
            <a:r>
              <a:rPr sz="1500" b="1" i="0" dirty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b="1" dirty="0" smtClean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sz="1500" b="1" i="0" dirty="0" smtClean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5분</a:t>
            </a:r>
            <a:endParaRPr sz="1500" b="1" i="0" dirty="0">
              <a:solidFill>
                <a:srgbClr val="D6283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72200" y="3346704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접수부터 승인 요청까지, E2E 20건 평균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60151" y="34290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60151" y="342900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38039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근거 인용률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380390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80% 이상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8039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803904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패치 설명에 규칙·이력 ID가 들어간 비율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60151" y="38862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60151" y="388620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261104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42611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자동 검증 통과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26110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3유형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2611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3 /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261104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S1 결함 수정 · S2 표준화 · S3 보안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60151" y="43434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60151" y="434340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718304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7183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결함 위치 Top-3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471830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0.80 이상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47183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0.803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4718304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평가 분할 524건 · 신뢰구간 약 ±3.4%p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60151" y="48006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60151" y="480060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여유 작음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75504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1520" y="51755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예측 도구 기여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517550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해결률 향상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51755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+5%p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175504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예측 끔 90% → 켬 95% · 20건 중 1건 차이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360151" y="52578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360151" y="525780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여유 작음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5989320"/>
            <a:ext cx="1109441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E2E: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학습·이력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KB에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없는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홀드아웃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결함</a:t>
            </a:r>
            <a:r>
              <a:rPr sz="1200" b="0" i="0" dirty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 20</a:t>
            </a:r>
            <a:r>
              <a:rPr sz="1200" b="0" i="0" dirty="0" smtClean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건</a:t>
            </a:r>
            <a:endParaRPr sz="1200" b="0" i="0" dirty="0">
              <a:solidFill>
                <a:srgbClr val="5B62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66"/>
                </a:solidFill>
                <a:latin typeface="Malgun Gothic"/>
                <a:ea typeface="Malgun Gothic"/>
                <a:cs typeface="Malgun Gothic"/>
              </a:rPr>
              <a:t>08 ·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확인한 것과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지금 확인한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9" y="1600200"/>
            <a:ext cx="5699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공통 함수 수정이 약함 (시연 케이스 C)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5623559" y="2130552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599" y="1920240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19" y="1920240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함수의 호출 관계를 따라 여러 파일 수정 지원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96896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596896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정답 없는 실제 티켓은 일부 조건이 미평가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5623559" y="2807208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599" y="2596896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19" y="2596896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 규칙을 자동으로 추론해 원본과 비교하는 범위를 넓힘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73552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273552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위치 예측 Top-3 0.803, 예측 도구 기여 +5%p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5623559" y="3483864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599" y="3273552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19" y="3273552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데이터를 늘리고 호출 관계 피처를 더해 예측 신호 강화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50208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95020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평가 표본이 작음 (E2E 20건, 공격 10건)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5623559" y="4160520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43599" y="3950208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19" y="3950208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 세트를 늘려 수치의 흔들림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26864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4626864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가상 데이터로만 검증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5623559" y="4837176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599" y="4626864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19" y="4626864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코드·규칙·이력으로 재학습하고 실제 티켓으로 재검증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RedFix는 담당자를 대신하지 않는다.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근거와 검증 결과로, 담당자가 빠르고 안전하게 결정하게 돕는다.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3148</Words>
  <Application>Microsoft Office PowerPoint</Application>
  <PresentationFormat>와이드스크린</PresentationFormat>
  <Paragraphs>385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RedFix 최종 발표</dc:title>
  <dc:subject/>
  <dc:creator>이종협</dc:creator>
  <cp:keywords/>
  <dc:description>generated using python-pptx</dc:description>
  <cp:lastModifiedBy>student</cp:lastModifiedBy>
  <cp:revision>16</cp:revision>
  <dcterms:created xsi:type="dcterms:W3CDTF">2013-01-27T09:14:16Z</dcterms:created>
  <dcterms:modified xsi:type="dcterms:W3CDTF">2026-10-23T03:21:57Z</dcterms:modified>
  <cp:category/>
</cp:coreProperties>
</file>