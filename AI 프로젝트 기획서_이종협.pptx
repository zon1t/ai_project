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2344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7FD1C3"/>
                </a:solidFill>
                <a:latin typeface="Malgun Gothic"/>
                <a:ea typeface="Malgun Gothic"/>
                <a:cs typeface="Malgun Gothic"/>
              </a:rPr>
              <a:t>SCSA27 · AI AGENT 프로젝트 기획서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18846"/>
            <a:ext cx="1051560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변경</a:t>
            </a:r>
            <a:r>
              <a:rPr sz="4400"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400"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요청</a:t>
            </a:r>
            <a:r>
              <a:rPr sz="4400"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400"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</a:t>
            </a:r>
            <a:r>
              <a:rPr sz="4400"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400" b="1" i="0" dirty="0" err="1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에이전트</a:t>
            </a:r>
            <a:r>
              <a:rPr lang="en-US" sz="4400" b="1" dirty="0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- </a:t>
            </a:r>
            <a:r>
              <a:rPr lang="en-US" sz="4400" b="1" i="0" dirty="0" err="1" smtClean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RedFix</a:t>
            </a:r>
            <a:endParaRPr sz="4400" b="1" i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CFE3DE"/>
                </a:solidFill>
                <a:latin typeface="Malgun Gothic"/>
                <a:ea typeface="Malgun Gothic"/>
                <a:cs typeface="Malgun Gothic"/>
              </a:rPr>
              <a:t>결함 위치를 예측하고, 고친 코드를 스스로 공격해 검증하는 유지보수 코드 수정 에이전트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29000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1E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39" y="3639312"/>
            <a:ext cx="274321" cy="0"/>
          </a:xfrm>
          <a:prstGeom prst="line">
            <a:avLst/>
          </a:prstGeom>
          <a:ln w="19050">
            <a:solidFill>
              <a:srgbClr val="7FD1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40280" y="3429000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1E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20440" y="3639312"/>
            <a:ext cx="274320" cy="0"/>
          </a:xfrm>
          <a:prstGeom prst="line">
            <a:avLst/>
          </a:prstGeom>
          <a:ln w="19050">
            <a:solidFill>
              <a:srgbClr val="7FD1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40480" y="3429000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C03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20640" y="3639312"/>
            <a:ext cx="274320" cy="0"/>
          </a:xfrm>
          <a:prstGeom prst="line">
            <a:avLst/>
          </a:prstGeom>
          <a:ln w="19050">
            <a:solidFill>
              <a:srgbClr val="7FD1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40680" y="3429000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1E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20840" y="3639312"/>
            <a:ext cx="274320" cy="0"/>
          </a:xfrm>
          <a:prstGeom prst="line">
            <a:avLst/>
          </a:prstGeom>
          <a:ln w="19050">
            <a:solidFill>
              <a:srgbClr val="7FD1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40880" y="3429000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1E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805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E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FD1C3"/>
                </a:solidFill>
                <a:latin typeface="Malgun Gothic"/>
                <a:ea typeface="Malgun Gothic"/>
                <a:cs typeface="Malgun Gothic"/>
              </a:rPr>
              <a:t>① 현업 연계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SI·ITO 운영 조직의 변경 요청(SR) 처리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44805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E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FD1C3"/>
                </a:solidFill>
                <a:latin typeface="Malgun Gothic"/>
                <a:ea typeface="Malgun Gothic"/>
                <a:cs typeface="Malgun Gothic"/>
              </a:rPr>
              <a:t>② ML/DL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결함 위치 예측 (DL 임베딩 + ML 순위)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4805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E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FD1C3"/>
                </a:solidFill>
                <a:latin typeface="Malgun Gothic"/>
                <a:ea typeface="Malgun Gothic"/>
                <a:cs typeface="Malgun Gothic"/>
              </a:rPr>
              <a:t>③ Tool 호출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분석 에이전트가 예측 모델을 도구로 호출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44805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E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FD1C3"/>
                </a:solidFill>
                <a:latin typeface="Malgun Gothic"/>
                <a:ea typeface="Malgun Gothic"/>
                <a:cs typeface="Malgun Gothic"/>
              </a:rPr>
              <a:t>④ 화면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Streamlit 티켓 처리 · 승인 화면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0" i="0" dirty="0" smtClean="0">
                <a:solidFill>
                  <a:srgbClr val="CFE3DE"/>
                </a:solidFill>
                <a:latin typeface="Malgun Gothic"/>
                <a:ea typeface="Malgun Gothic"/>
                <a:cs typeface="Malgun Gothic"/>
              </a:rPr>
              <a:t>SCSA </a:t>
            </a:r>
            <a:r>
              <a:rPr lang="ko-KR" altLang="en-US" sz="1300" b="0" i="0" dirty="0" err="1" smtClean="0">
                <a:solidFill>
                  <a:srgbClr val="CFE3DE"/>
                </a:solidFill>
                <a:latin typeface="Malgun Gothic"/>
                <a:ea typeface="Malgun Gothic"/>
                <a:cs typeface="Malgun Gothic"/>
              </a:rPr>
              <a:t>이종협</a:t>
            </a:r>
            <a:r>
              <a:rPr sz="1300" b="0" i="0" dirty="0" smtClean="0">
                <a:solidFill>
                  <a:srgbClr val="CFE3DE"/>
                </a:solidFill>
                <a:latin typeface="Malgun Gothic"/>
                <a:ea typeface="Malgun Gothic"/>
                <a:cs typeface="Malgun Gothic"/>
              </a:rPr>
              <a:t>      </a:t>
            </a:r>
            <a:r>
              <a:rPr sz="1300" b="0" i="0" dirty="0">
                <a:solidFill>
                  <a:srgbClr val="CFE3DE"/>
                </a:solidFill>
                <a:latin typeface="Malgun Gothic"/>
                <a:ea typeface="Malgun Gothic"/>
                <a:cs typeface="Malgun Gothic"/>
              </a:rPr>
              <a:t>·      2026. </a:t>
            </a:r>
            <a:r>
              <a:rPr sz="1300" b="0" i="0" dirty="0" smtClean="0">
                <a:solidFill>
                  <a:srgbClr val="CFE3DE"/>
                </a:solidFill>
                <a:latin typeface="Malgun Gothic"/>
                <a:ea typeface="Malgun Gothic"/>
                <a:cs typeface="Malgun Gothic"/>
              </a:rPr>
              <a:t>10</a:t>
            </a:r>
            <a:r>
              <a:rPr lang="en-US" sz="1300" dirty="0" smtClean="0">
                <a:solidFill>
                  <a:srgbClr val="CFE3DE"/>
                </a:solidFill>
                <a:latin typeface="Malgun Gothic"/>
                <a:ea typeface="Malgun Gothic"/>
                <a:cs typeface="Malgun Gothic"/>
              </a:rPr>
              <a:t>. 19</a:t>
            </a:r>
            <a:endParaRPr sz="1300" b="0" i="0" dirty="0">
              <a:solidFill>
                <a:srgbClr val="CFE3DE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① 프로젝트 개요 · 현 문제점   +   ② 개선 방향 · 기대 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SR 한 건의 시간은 원인 찾기와 회귀 확인에서 샌다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변경 요청 처리 에이전트 · AI Agent 프로젝트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2952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1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대상 업무 · 사용자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사용자  </a:t>
            </a:r>
            <a:r>
              <a:rPr sz="10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운영 시스템을 유지보수하는 SI·ITO 개발자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대상 업무  </a:t>
            </a:r>
            <a:r>
              <a:rPr sz="10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변경 요청(SR) 처리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MVP 범위  </a:t>
            </a:r>
            <a:r>
              <a:rPr sz="10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결함 수정 · 노후화 대응 · 보안 진단 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현재 업무 흐름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33472"/>
            <a:ext cx="1161288" cy="347472"/>
          </a:xfrm>
          <a:prstGeom prst="roundRect">
            <a:avLst>
              <a:gd name="adj" fmla="val 20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1 티켓 접수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36776" y="2807208"/>
            <a:ext cx="128016" cy="0"/>
          </a:xfrm>
          <a:prstGeom prst="line">
            <a:avLst/>
          </a:prstGeom>
          <a:ln w="12700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83080" y="2633472"/>
            <a:ext cx="1161288" cy="347472"/>
          </a:xfrm>
          <a:prstGeom prst="roundRect">
            <a:avLst>
              <a:gd name="adj" fmla="val 20000"/>
            </a:avLst>
          </a:prstGeom>
          <a:solidFill>
            <a:srgbClr val="FCE6DB"/>
          </a:solidFill>
          <a:ln w="9525">
            <a:solidFill>
              <a:srgbClr val="C03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50" b="1" i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2 원인 위치 탐색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62656" y="2807208"/>
            <a:ext cx="128016" cy="0"/>
          </a:xfrm>
          <a:prstGeom prst="line">
            <a:avLst/>
          </a:prstGeom>
          <a:ln w="12700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08960" y="2633472"/>
            <a:ext cx="1161288" cy="347472"/>
          </a:xfrm>
          <a:prstGeom prst="roundRect">
            <a:avLst>
              <a:gd name="adj" fmla="val 20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3 코드 수정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0672"/>
            <a:ext cx="1161288" cy="347472"/>
          </a:xfrm>
          <a:prstGeom prst="roundRect">
            <a:avLst>
              <a:gd name="adj" fmla="val 20000"/>
            </a:avLst>
          </a:prstGeom>
          <a:solidFill>
            <a:srgbClr val="FCE6DB"/>
          </a:solidFill>
          <a:ln w="9525">
            <a:solidFill>
              <a:srgbClr val="C03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50" b="1" i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4 테스트·회귀 확인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36776" y="3264408"/>
            <a:ext cx="128016" cy="0"/>
          </a:xfrm>
          <a:prstGeom prst="line">
            <a:avLst/>
          </a:prstGeom>
          <a:ln w="12700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783080" y="3090672"/>
            <a:ext cx="1161288" cy="347472"/>
          </a:xfrm>
          <a:prstGeom prst="roundRect">
            <a:avLst>
              <a:gd name="adj" fmla="val 20000"/>
            </a:avLst>
          </a:prstGeom>
          <a:solidFill>
            <a:srgbClr val="FCE6DB"/>
          </a:solidFill>
          <a:ln w="9525">
            <a:solidFill>
              <a:srgbClr val="C03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50" b="1" i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5 규칙·이력 대조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62656" y="3264408"/>
            <a:ext cx="128016" cy="0"/>
          </a:xfrm>
          <a:prstGeom prst="line">
            <a:avLst/>
          </a:prstGeom>
          <a:ln w="12700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108960" y="3090672"/>
            <a:ext cx="1161288" cy="347472"/>
          </a:xfrm>
          <a:prstGeom prst="roundRect">
            <a:avLst>
              <a:gd name="adj" fmla="val 20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/>
          <a:lstStyle/>
          <a:p>
            <a:pPr algn="ctr"/>
            <a:r>
              <a:rPr sz="9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6 승인·배포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11880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현업 문제점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13632"/>
            <a:ext cx="3840480" cy="621792"/>
          </a:xfrm>
          <a:prstGeom prst="roundRect">
            <a:avLst>
              <a:gd name="adj" fmla="val 10000"/>
            </a:avLst>
          </a:prstGeom>
          <a:solidFill>
            <a:srgbClr val="FC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078334"/>
            <a:ext cx="132588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altLang="ko-KR" sz="1900" b="1" i="0" dirty="0" smtClean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lang="ko-KR" altLang="en-US" sz="1900" b="1" i="0" dirty="0" smtClean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시간</a:t>
            </a:r>
            <a:endParaRPr sz="1900" b="1" i="0" dirty="0">
              <a:solidFill>
                <a:srgbClr val="C03F0B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20240" y="3913632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SR당 결함 원인 위치를 찾는 데</a:t>
            </a:r>
          </a:p>
          <a:p>
            <a:pPr algn="l"/>
            <a:r>
              <a:rPr sz="10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쓰는 시간 (로그·코드 검색)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26864"/>
            <a:ext cx="3840480" cy="621792"/>
          </a:xfrm>
          <a:prstGeom prst="roundRect">
            <a:avLst>
              <a:gd name="adj" fmla="val 10000"/>
            </a:avLst>
          </a:prstGeom>
          <a:solidFill>
            <a:srgbClr val="FC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626864"/>
            <a:ext cx="13258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회귀 결함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626864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고치면서 다른 동작을 깨뜨리고,</a:t>
            </a:r>
          </a:p>
          <a:p>
            <a:pPr algn="l"/>
            <a:r>
              <a:rPr sz="10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통합 테스트 단계에서야 발견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40096"/>
            <a:ext cx="3840480" cy="621792"/>
          </a:xfrm>
          <a:prstGeom prst="roundRect">
            <a:avLst>
              <a:gd name="adj" fmla="val 10000"/>
            </a:avLst>
          </a:prstGeom>
          <a:solidFill>
            <a:srgbClr val="FC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5340096"/>
            <a:ext cx="13258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수작업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340096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사내 규칙과 과거 장애 조치 이력을</a:t>
            </a:r>
          </a:p>
          <a:p>
            <a:pPr algn="l"/>
            <a:r>
              <a:rPr sz="10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사람이 직접 찾아 대조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8990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640C"/>
                </a:solidFill>
                <a:latin typeface="Malgun Gothic"/>
                <a:ea typeface="Malgun Gothic"/>
                <a:cs typeface="Malgun Gothic"/>
              </a:rPr>
              <a:t>※ 문제 수치와 E2E 해결률 목표는 가정치입니다. 근거 확인 후 교체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234440"/>
            <a:ext cx="7205472" cy="603504"/>
          </a:xfrm>
          <a:prstGeom prst="roundRect">
            <a:avLst>
              <a:gd name="adj" fmla="val 12000"/>
            </a:avLst>
          </a:prstGeom>
          <a:solidFill>
            <a:srgbClr val="DC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l"/>
            <a:r>
              <a:rPr sz="11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해결 아이디어   </a:t>
            </a:r>
            <a:r>
              <a:rPr sz="11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모델이 고칠 위치를 좁히고, 에이전트가 이력·규칙을 근거로 수정한 뒤, 공격 에이전트가 미달·회귀를 찾을 때까지 검증합니다.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526280" y="1947672"/>
          <a:ext cx="7205472" cy="1365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Before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After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 위치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로그·코드를 사람이 검색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 위치 예측 모델이 함수 Top-3와 SHAP 근거 제시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A3D9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ML / DL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경험에 의존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유사 장애 이력·사내 규칙을 근거로 패치 생성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D6B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 + RAG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수작업, 회귀는 늦게 발견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 테스트 자동 작성 +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LLM·Hypothesis 입력으로 미달·회귀 탐색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D6B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Agent + 판정 코드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리뷰어가 전부 확인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결과·근거를 한 화면에서 보고 승인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03F0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 (HITL)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526280" y="3657600"/>
          <a:ext cx="7205471" cy="2468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6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정량 목표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목표치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 위치 Top-3 정확도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0.80 이상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홀드아웃 티켓, TF-IDF 베이스라인과 비교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SR당 처리 시간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2시간 → 15분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 티켓의 접수부터 승인 요청까지 시간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에이전트 탐지율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80% 이상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일부러 불완전하게 만든 패치 10건 중 미달·회귀 탐지 수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인용률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80% 이상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패치 설명에 규칙 ID·이력 ID가 포함된 비율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E2E 해결률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60% 이상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홀드아웃 20건 중 사람 개입 없이 판정 노드 통과 비율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예측 도구 기여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해결률 향상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Ablation: 예측 도구 유무별 해결률·토큰·소요 시간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회귀 누출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1건 이하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Ablation: 공격 단계 유무별 숨은 회귀 테스트에 걸린 패치 수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검증 통과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3유형 모두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 시나리오 3개가 판정 노드 통과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③ 시스템 설계 (1/2) · 아키텍처와 도구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결함 위치 예측 모델은 분석 에이전트가 호출하는 도구다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변경 요청 처리 에이전트 · AI Agent 프로젝트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2952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2 /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5943600" cy="548640"/>
          </a:xfrm>
          <a:prstGeom prst="roundRect">
            <a:avLst>
              <a:gd name="adj" fmla="val 6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234440"/>
            <a:ext cx="60350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5943600" cy="1280160"/>
          </a:xfrm>
          <a:prstGeom prst="roundRect">
            <a:avLst>
              <a:gd name="adj" fmla="val 6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1874519"/>
            <a:ext cx="603504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46120"/>
            <a:ext cx="5943600" cy="1298448"/>
          </a:xfrm>
          <a:prstGeom prst="roundRect">
            <a:avLst>
              <a:gd name="adj" fmla="val 6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3246120"/>
            <a:ext cx="603504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36008"/>
            <a:ext cx="5943600" cy="1033271"/>
          </a:xfrm>
          <a:prstGeom prst="roundRect">
            <a:avLst>
              <a:gd name="adj" fmla="val 6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4636008"/>
            <a:ext cx="603504" cy="10332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모델</a:t>
            </a:r>
          </a:p>
          <a:p>
            <a:pPr algn="ctr"/>
            <a:r>
              <a:rPr sz="950" b="1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1307592"/>
            <a:ext cx="5212080" cy="402336"/>
          </a:xfrm>
          <a:prstGeom prst="roundRect">
            <a:avLst>
              <a:gd name="adj" fmla="val 10000"/>
            </a:avLst>
          </a:prstGeom>
          <a:solidFill>
            <a:srgbClr val="DCEFEA"/>
          </a:solidFill>
          <a:ln w="9525">
            <a:solidFill>
              <a:srgbClr val="0D6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10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Streamlit 화면   </a:t>
            </a:r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티켓 목록 · 진행 단계 · 위치 Top-3 · 근거 · diff · 공격 로그 · 승인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286000"/>
            <a:ext cx="987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6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800" b="1" i="0">
                <a:solidFill>
                  <a:srgbClr val="0D6B60"/>
                </a:solidFill>
                <a:latin typeface="Consolas"/>
                <a:ea typeface="Malgun Gothic"/>
                <a:cs typeface="Malgun Gothic"/>
              </a:rPr>
              <a:t>AGENT</a:t>
            </a:r>
          </a:p>
          <a:p>
            <a:pPr algn="ctr"/>
            <a:r>
              <a:rPr sz="10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분석 에이전트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위치 예측 · 근거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재현 테스트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21991" y="2286000"/>
            <a:ext cx="987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6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800" b="1" i="0">
                <a:solidFill>
                  <a:srgbClr val="0D6B60"/>
                </a:solidFill>
                <a:latin typeface="Consolas"/>
                <a:ea typeface="Malgun Gothic"/>
                <a:cs typeface="Malgun Gothic"/>
              </a:rPr>
              <a:t>AGENT</a:t>
            </a:r>
          </a:p>
          <a:p>
            <a:pPr algn="ctr"/>
            <a:r>
              <a:rPr sz="10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수정 에이전트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규칙 반영 패치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테스트 실행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6703" y="2286000"/>
            <a:ext cx="987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D6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800" b="1" i="0">
                <a:solidFill>
                  <a:srgbClr val="0D6B60"/>
                </a:solidFill>
                <a:latin typeface="Consolas"/>
                <a:ea typeface="Malgun Gothic"/>
                <a:cs typeface="Malgun Gothic"/>
              </a:rPr>
              <a:t>AGENT</a:t>
            </a:r>
          </a:p>
          <a:p>
            <a:pPr algn="ctr"/>
            <a:r>
              <a:rPr sz="10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공격 에이전트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수정 미달 · 회귀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탐색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1416" y="2286000"/>
            <a:ext cx="8503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A67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800" b="1" i="0">
                <a:solidFill>
                  <a:srgbClr val="5A6762"/>
                </a:solidFill>
                <a:latin typeface="Consolas"/>
                <a:ea typeface="Malgun Gothic"/>
                <a:cs typeface="Malgun Gothic"/>
              </a:rPr>
              <a:t>CODE</a:t>
            </a:r>
          </a:p>
          <a:p>
            <a:pPr algn="ctr"/>
            <a:r>
              <a:rPr sz="10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판정 노드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유형별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통과 조건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58968" y="2286000"/>
            <a:ext cx="850392" cy="777240"/>
          </a:xfrm>
          <a:prstGeom prst="roundRect">
            <a:avLst>
              <a:gd name="adj" fmla="val 10000"/>
            </a:avLst>
          </a:prstGeom>
          <a:solidFill>
            <a:srgbClr val="FCE6DB"/>
          </a:solidFill>
          <a:ln w="12700">
            <a:solidFill>
              <a:srgbClr val="C03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800" b="1" i="0">
                <a:solidFill>
                  <a:srgbClr val="C03F0B"/>
                </a:solidFill>
                <a:latin typeface="Consolas"/>
                <a:ea typeface="Malgun Gothic"/>
                <a:cs typeface="Malgun Gothic"/>
              </a:rPr>
              <a:t>HITL</a:t>
            </a:r>
          </a:p>
          <a:p>
            <a:pPr algn="ctr"/>
            <a:r>
              <a:rPr sz="10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사람 승인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반영 / 반려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84832" y="2674620"/>
            <a:ext cx="137159" cy="0"/>
          </a:xfrm>
          <a:prstGeom prst="line">
            <a:avLst/>
          </a:prstGeom>
          <a:ln w="15875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209544" y="2674620"/>
            <a:ext cx="137159" cy="0"/>
          </a:xfrm>
          <a:prstGeom prst="line">
            <a:avLst/>
          </a:prstGeom>
          <a:ln w="15875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34256" y="2674620"/>
            <a:ext cx="137160" cy="0"/>
          </a:xfrm>
          <a:prstGeom prst="line">
            <a:avLst/>
          </a:prstGeom>
          <a:ln w="15875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21807" y="2674620"/>
            <a:ext cx="137161" cy="0"/>
          </a:xfrm>
          <a:prstGeom prst="line">
            <a:avLst/>
          </a:prstGeom>
          <a:ln w="15875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25880" y="1709928"/>
            <a:ext cx="0" cy="576072"/>
          </a:xfrm>
          <a:prstGeom prst="line">
            <a:avLst/>
          </a:prstGeom>
          <a:ln w="15875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35040" y="1709928"/>
            <a:ext cx="0" cy="576072"/>
          </a:xfrm>
          <a:prstGeom prst="line">
            <a:avLst/>
          </a:prstGeom>
          <a:ln w="15875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896612" y="2103120"/>
            <a:ext cx="0" cy="182880"/>
          </a:xfrm>
          <a:prstGeom prst="line">
            <a:avLst/>
          </a:prstGeom>
          <a:ln w="19050">
            <a:solidFill>
              <a:srgbClr val="C03F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715768" y="2103120"/>
            <a:ext cx="2180844" cy="0"/>
          </a:xfrm>
          <a:prstGeom prst="line">
            <a:avLst/>
          </a:prstGeom>
          <a:ln w="19050">
            <a:solidFill>
              <a:srgbClr val="C03F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15768" y="2103120"/>
            <a:ext cx="0" cy="182880"/>
          </a:xfrm>
          <a:prstGeom prst="line">
            <a:avLst/>
          </a:prstGeom>
          <a:ln w="19050">
            <a:solidFill>
              <a:srgbClr val="C03F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15768" y="1892807"/>
            <a:ext cx="21808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미달 · 회귀 발견 → 수정 재시도 (최대 3회)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3310128"/>
            <a:ext cx="1874519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D6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분석 도구</a:t>
            </a:r>
          </a:p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6A3D9E"/>
                </a:solidFill>
                <a:latin typeface="Consolas"/>
                <a:ea typeface="Malgun Gothic"/>
                <a:cs typeface="Malgun Gothic"/>
              </a:rPr>
              <a:t>predict_fault_location</a:t>
            </a:r>
          </a:p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94640C"/>
                </a:solidFill>
                <a:latin typeface="Consolas"/>
                <a:ea typeface="Malgun Gothic"/>
                <a:cs typeface="Malgun Gothic"/>
              </a:rPr>
              <a:t>search_history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get_callers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get_coverage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3310128"/>
            <a:ext cx="109728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D6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수정 도구</a:t>
            </a:r>
          </a:p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94640C"/>
                </a:solidFill>
                <a:latin typeface="Consolas"/>
                <a:ea typeface="Malgun Gothic"/>
                <a:cs typeface="Malgun Gothic"/>
              </a:rPr>
              <a:t>search_rules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read_method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apply_patch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run_tests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3310128"/>
            <a:ext cx="205740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D6B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공격 · 판정 도구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run_diff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property_attack</a:t>
            </a:r>
          </a:p>
          <a:p>
            <a:pPr algn="l">
              <a:lnSpc>
                <a:spcPct val="95000"/>
              </a:lnSpc>
            </a:pPr>
            <a:r>
              <a:rPr sz="900" b="1" i="0">
                <a:solidFill>
                  <a:srgbClr val="94640C"/>
                </a:solidFill>
                <a:latin typeface="Consolas"/>
                <a:ea typeface="Malgun Gothic"/>
                <a:cs typeface="Malgun Gothic"/>
              </a:rPr>
              <a:t>attack_memory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check_deprecated</a:t>
            </a:r>
          </a:p>
          <a:p>
            <a:pPr algn="l">
              <a:lnSpc>
                <a:spcPct val="95000"/>
              </a:lnSpc>
            </a:pPr>
            <a:r>
              <a:rPr sz="900" b="0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check_security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591056" y="3063240"/>
            <a:ext cx="0" cy="246888"/>
          </a:xfrm>
          <a:prstGeom prst="line">
            <a:avLst/>
          </a:prstGeom>
          <a:ln w="12700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36392" y="3063240"/>
            <a:ext cx="0" cy="246888"/>
          </a:xfrm>
          <a:prstGeom prst="line">
            <a:avLst/>
          </a:prstGeom>
          <a:ln w="12700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297680" y="3063240"/>
            <a:ext cx="0" cy="246888"/>
          </a:xfrm>
          <a:prstGeom prst="line">
            <a:avLst/>
          </a:prstGeom>
          <a:ln w="12700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896612" y="3063240"/>
            <a:ext cx="0" cy="246888"/>
          </a:xfrm>
          <a:prstGeom prst="line">
            <a:avLst/>
          </a:prstGeom>
          <a:ln w="12700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97280" y="4690872"/>
            <a:ext cx="954633" cy="914400"/>
          </a:xfrm>
          <a:prstGeom prst="roundRect">
            <a:avLst>
              <a:gd name="adj" fmla="val 8000"/>
            </a:avLst>
          </a:prstGeom>
          <a:solidFill>
            <a:srgbClr val="ECE3F6"/>
          </a:solidFill>
          <a:ln w="9525">
            <a:solidFill>
              <a:srgbClr val="6A3D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750" b="1" i="0">
                <a:solidFill>
                  <a:srgbClr val="6A3D9E"/>
                </a:solidFill>
                <a:latin typeface="Consolas"/>
                <a:ea typeface="Malgun Gothic"/>
                <a:cs typeface="Malgun Gothic"/>
              </a:rPr>
              <a:t>DL + ML</a:t>
            </a:r>
          </a:p>
          <a:p>
            <a:pPr algn="ctr"/>
            <a:r>
              <a:rPr sz="9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결함 위치 모델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임베딩 +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XGBoost Ranker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1574596" y="4480560"/>
            <a:ext cx="0" cy="210312"/>
          </a:xfrm>
          <a:prstGeom prst="line">
            <a:avLst/>
          </a:prstGeom>
          <a:ln w="12700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2161641" y="4690872"/>
            <a:ext cx="954633" cy="914400"/>
          </a:xfrm>
          <a:prstGeom prst="roundRect">
            <a:avLst>
              <a:gd name="adj" fmla="val 8000"/>
            </a:avLst>
          </a:prstGeom>
          <a:solidFill>
            <a:srgbClr val="F6EAD2"/>
          </a:solidFill>
          <a:ln w="9525">
            <a:solidFill>
              <a:srgbClr val="9464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750" b="1" i="0">
                <a:solidFill>
                  <a:srgbClr val="94640C"/>
                </a:solidFill>
                <a:latin typeface="Consolas"/>
                <a:ea typeface="Malgun Gothic"/>
                <a:cs typeface="Malgun Gothic"/>
              </a:rPr>
              <a:t>CHROMA</a:t>
            </a:r>
          </a:p>
          <a:p>
            <a:pPr algn="ctr"/>
            <a:r>
              <a:rPr sz="9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장애·조치 이력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결함 주입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데이터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2638958" y="4480560"/>
            <a:ext cx="0" cy="210312"/>
          </a:xfrm>
          <a:prstGeom prst="line">
            <a:avLst/>
          </a:prstGeom>
          <a:ln w="12700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226003" y="4690872"/>
            <a:ext cx="954633" cy="914400"/>
          </a:xfrm>
          <a:prstGeom prst="roundRect">
            <a:avLst>
              <a:gd name="adj" fmla="val 8000"/>
            </a:avLst>
          </a:prstGeom>
          <a:solidFill>
            <a:srgbClr val="F6EAD2"/>
          </a:solidFill>
          <a:ln w="9525">
            <a:solidFill>
              <a:srgbClr val="9464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750" b="1" i="0">
                <a:solidFill>
                  <a:srgbClr val="94640C"/>
                </a:solidFill>
                <a:latin typeface="Consolas"/>
                <a:ea typeface="Malgun Gothic"/>
                <a:cs typeface="Malgun Gothic"/>
              </a:rPr>
              <a:t>CHROMA</a:t>
            </a:r>
          </a:p>
          <a:p>
            <a:pPr algn="ctr"/>
            <a:r>
              <a:rPr sz="9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사내 규칙 KB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규칙 40건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3703320" y="4480560"/>
            <a:ext cx="0" cy="210312"/>
          </a:xfrm>
          <a:prstGeom prst="line">
            <a:avLst/>
          </a:prstGeom>
          <a:ln w="12700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290364" y="4690872"/>
            <a:ext cx="954633" cy="914400"/>
          </a:xfrm>
          <a:prstGeom prst="roundRect">
            <a:avLst>
              <a:gd name="adj" fmla="val 8000"/>
            </a:avLst>
          </a:prstGeom>
          <a:solidFill>
            <a:srgbClr val="F6EAD2"/>
          </a:solidFill>
          <a:ln w="9525">
            <a:solidFill>
              <a:srgbClr val="9464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750" b="1" i="0">
                <a:solidFill>
                  <a:srgbClr val="94640C"/>
                </a:solidFill>
                <a:latin typeface="Consolas"/>
                <a:ea typeface="Malgun Gothic"/>
                <a:cs typeface="Malgun Gothic"/>
              </a:rPr>
              <a:t>CHROMA</a:t>
            </a:r>
          </a:p>
          <a:p>
            <a:pPr algn="ctr"/>
            <a:r>
              <a:rPr sz="9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공격 이력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성공 공격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재사용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4767681" y="4480560"/>
            <a:ext cx="0" cy="210312"/>
          </a:xfrm>
          <a:prstGeom prst="line">
            <a:avLst/>
          </a:prstGeom>
          <a:ln w="12700">
            <a:solidFill>
              <a:srgbClr val="5A6762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354726" y="4690872"/>
            <a:ext cx="954633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A67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36576" rIns="36576" bIns="36576" rtlCol="0" anchor="ctr"/>
          <a:lstStyle/>
          <a:p>
            <a:pPr algn="ctr"/>
            <a:r>
              <a:rPr sz="750" b="1" i="0">
                <a:solidFill>
                  <a:srgbClr val="5A6762"/>
                </a:solidFill>
                <a:latin typeface="Consolas"/>
                <a:ea typeface="Malgun Gothic"/>
                <a:cs typeface="Malgun Gothic"/>
              </a:rPr>
              <a:t>PYTHON</a:t>
            </a:r>
          </a:p>
          <a:p>
            <a:pPr algn="ctr"/>
            <a:r>
              <a:rPr sz="9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주문·정산</a:t>
            </a:r>
          </a:p>
          <a:p>
            <a:pPr algn="ctr"/>
            <a:r>
              <a:rPr sz="9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프로젝트</a:t>
            </a:r>
          </a:p>
          <a:p>
            <a:pPr algn="ctr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원본 / 작업본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5832043" y="4480560"/>
            <a:ext cx="0" cy="210312"/>
          </a:xfrm>
          <a:prstGeom prst="line">
            <a:avLst/>
          </a:prstGeom>
          <a:ln w="12700">
            <a:solidFill>
              <a:srgbClr val="5A67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7200" y="576072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6A3D9E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ML·DL 도구    </a:t>
            </a:r>
            <a:r>
              <a:rPr sz="900" b="0" i="0">
                <a:solidFill>
                  <a:srgbClr val="94640C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RAG 도구    </a:t>
            </a:r>
            <a:r>
              <a:rPr sz="9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■ </a:t>
            </a:r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결정적 코드    </a:t>
            </a:r>
            <a:r>
              <a:rPr sz="900" b="1" i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━ </a:t>
            </a:r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수정 재시도 루프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모델이 Tool로 호출되는 흐름: 분석 에이전트 → predict_fault_location → 결함 위치 모델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1234440"/>
            <a:ext cx="51023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도구(Tool) 명세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6629400" y="1517904"/>
          <a:ext cx="5102352" cy="40035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6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도구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→ 출력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업무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6A3D9E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predict_fault_location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ticket_text, top_k=3 → [{method, score, reasons}]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 위치 예측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(ML/DL 모델)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94640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search_history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query, top_k=3 → [{ticket, root_cause, fix_summary}]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유사 장애 이력 검색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get_callers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method → [method]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AST 호출부 조회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get_coverage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method → [{test, lines_hit}]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 테스트 조회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94640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search_rules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code, top_k=5 → [{rule_id, description, good_example}]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규칙 검색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read_method</a:t>
                      </a:r>
                    </a:p>
                    <a:p>
                      <a:r>
                        <a:rPr sz="850" b="1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apply_patch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method[, new_code] → 코드 / {applied, compile_ok, error}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작업본 읽기·수정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run_tests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version, tests? → {passed, failed: [{test, trace}]}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실행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run_diff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method, inputs → [{input, original, patched, same}]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 설계 입력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차등 실행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property_attack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method, strategy_spec, max_examples=200 → [{input, ..., same}]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Hypothesis 입력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차등 실행·최소화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94640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attack_memory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op, attack_type, record? → [{input, expected, actual}]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 공격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저장·재사용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check_deprecated</a:t>
                      </a:r>
                    </a:p>
                    <a:p>
                      <a:r>
                        <a:rPr sz="850" b="1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check_security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Consolas"/>
                          <a:ea typeface="Malgun Gothic"/>
                          <a:cs typeface="Malgun Gothic"/>
                        </a:rPr>
                        <a:t>version → [{location, api | rule_id}]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종료 API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위반 검사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③ 시스템 설계 (2/2) · 데이터 · 모델 · Agent 운영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결함을 주입해 만든 데이터로 위치 예측 모델을 학습한다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변경 요청 처리 에이전트 · AI Agent 프로젝트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2952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3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데이터 명세 (공개 · 가상 생성만 사용)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17904"/>
          <a:ext cx="5577840" cy="21214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출처 · 형식 · 건수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컬럼 · 의미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주문·정산 프로젝트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가상 생성 (Python 3.8 스타일, 3.12 실행) · 모듈 10개, 함수 약 100개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주문·할인·결제·정산·고객 + pytest. utcnow·pytz 등 지원 종료 예고 API와 보안 약점 의도 포함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 티켓 데이터셋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mutmut + LLM 결함 주입 후 LLM이 티켓 작성 · CSV 300~500건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ticket_id, title, body(증상), stacktrace(일부), fixed_method(정답), inject_type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장애·조치 이력 KB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데이터 학습 분할 재사용 · Chroma 약 250건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ticket, root_cause, fix_summary, method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규칙 KB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시큐어코딩 가이드·개발 표준 요약 + 가상 규칙 · JSON 40건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rule_id, category, description, bad/good_example, severity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이력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중 자동 생성 · Chroma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ticket_id, attack_type(미달/회귀), input, expected, actual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50208"/>
            <a:ext cx="55778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94640C"/>
                </a:solidFill>
                <a:latin typeface="Malgun Gothic"/>
                <a:ea typeface="Malgun Gothic"/>
                <a:cs typeface="Malgun Gothic"/>
              </a:rPr>
              <a:t>누수 방지  </a:t>
            </a:r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KB·프롬프트 예시는 학습 분할에서만 생성. 평가 티켓과 E2E 홀드아웃 20건은 KB·예시·과거 결함 수 피처에서 제외. 스택트레이스는 일부 티켓에만 포함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468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A3D9E"/>
                </a:solidFill>
                <a:latin typeface="Malgun Gothic"/>
                <a:ea typeface="Malgun Gothic"/>
                <a:cs typeface="Malgun Gothic"/>
              </a:rPr>
              <a:t>ML/DL 모델 설계: 결함 위치 예측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517904"/>
          <a:ext cx="5468112" cy="24231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문제 유형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순위 학습 (Learning to Rank): 티켓 1건당 후보 함수 순위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→ 출력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텍스트 + 함수 코드 → 함수별 결함 점수, 상위 3개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DL 역할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사전학습 임베딩(UniXcoder 또는 bge-m3)으로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증상과 영어 코드의 의미 유사도 계산 (파인튜닝 없음)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ML 역할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XGBoost Ranker(LambdaMART)로 피처 종합: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임베딩·TF-IDF 유사도, 스택트레이스 일치, 복잡도·길이, 과거 결함 수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실험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TF-IDF 단독(베이스라인)  ② 임베딩 단독  ③ 혼합형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· 목표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Top-3 ≥ 0.80, Top-1, MRR · 티켓 단위 8:2 분할 · 스택트레이스·주입 방식별 보고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예측 근거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SHAP 기여도 상위 피처 3개를 reasons로 반환해 화면에 표시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Ablation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E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홀드아웃 20건: 예측 도구 유무(해결률·토큰·시간), 공격 단계 유무(회귀 누출)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462272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Agent 구조: 워크플로 그래프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27448"/>
            <a:ext cx="5577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순서(분석→수정→공격→판정→승인)가 고정이라 Supervisor 대신 워크플로 그래프를 씁니다. 통과 여부는 LLM이 아닌 판정 노드(코드)가 결정하고, 실패 시 실패 내용을 붙여 수정 에이전트를 다시 호출합니다.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5166360"/>
          <a:ext cx="5577840" cy="11887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 유형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 노드 통과 조건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 수정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 테스트 원본 실패 → 수정본 통과 · 기존 테스트 통과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 영역 밖 Hypothesis 입력 200개에서 출력 동일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노후화 대응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Hypothesis 입력 200개에서 출력 완전 동일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종료 API 0건 (DeprecationWarning을 오류로 처리)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조치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bandit·사내 규칙 위반 0건 · 공격 입력 무력화 · 정상 입력은 원본과 출력 동일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63640" y="4462272"/>
            <a:ext cx="54681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상태 · 메모리 / 안전장치 / 기술 스택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754880"/>
            <a:ext cx="2651760" cy="987552"/>
          </a:xfrm>
          <a:prstGeom prst="roundRect">
            <a:avLst>
              <a:gd name="adj" fmla="val 8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상태 · 메모리</a:t>
            </a:r>
          </a:p>
          <a:p>
            <a:pPr marL="146304" indent="-128016" algn="l">
              <a:spcAft>
                <a:spcPts val="100"/>
              </a:spcAft>
              <a:buChar char="•"/>
            </a:pPr>
            <a:r>
              <a:rPr sz="9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티켓별 단계·예측 위치·패치·시도 횟수</a:t>
            </a:r>
          </a:p>
          <a:p>
            <a:pPr marL="146304" indent="-128016" algn="l">
              <a:spcAft>
                <a:spcPts val="100"/>
              </a:spcAft>
              <a:buChar char="•"/>
            </a:pPr>
            <a:r>
              <a:rPr sz="9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공격 이력 장기 저장, 같은 유형 우선 재사용</a:t>
            </a:r>
          </a:p>
          <a:p>
            <a:pPr marL="146304" indent="-128016" algn="l">
              <a:spcAft>
                <a:spcPts val="100"/>
              </a:spcAft>
              <a:buChar char="•"/>
            </a:pPr>
            <a:r>
              <a:rPr sz="9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에이전트 간 구조화 JSON만 전달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4754880"/>
            <a:ext cx="2679192" cy="987552"/>
          </a:xfrm>
          <a:prstGeom prst="roundRect">
            <a:avLst>
              <a:gd name="adj" fmla="val 8000"/>
            </a:avLst>
          </a:prstGeom>
          <a:solidFill>
            <a:srgbClr val="FC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안전장치 (Guard)</a:t>
            </a:r>
          </a:p>
          <a:p>
            <a:pPr marL="146304" indent="-128016" algn="l">
              <a:spcAft>
                <a:spcPts val="100"/>
              </a:spcAft>
              <a:buChar char="•"/>
            </a:pPr>
            <a:r>
              <a:rPr sz="9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HITL: 반영 전 담당자 승인</a:t>
            </a:r>
          </a:p>
          <a:p>
            <a:pPr marL="146304" indent="-128016" algn="l">
              <a:spcAft>
                <a:spcPts val="100"/>
              </a:spcAft>
              <a:buChar char="•"/>
            </a:pPr>
            <a:r>
              <a:rPr sz="9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테스트·기대 출력 수정 금지</a:t>
            </a:r>
          </a:p>
          <a:p>
            <a:pPr marL="146304" indent="-128016" algn="l">
              <a:spcAft>
                <a:spcPts val="100"/>
              </a:spcAft>
              <a:buChar char="•"/>
            </a:pPr>
            <a:r>
              <a:rPr sz="9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임시 작업본 · 타임아웃 10초 · 재시도 3회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5815584"/>
            <a:ext cx="546811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D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/>
            <a:r>
              <a:rPr sz="8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기술 스택  </a:t>
            </a:r>
            <a:r>
              <a:rPr sz="8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Python 3.12 · Claude claude-opus-5-5 (Anthropic SDK tool use) · XGBoost · scikit-learn · sentence-transformers · SHAP · pytest · coverage.py · Hypothesis · mutmut · bandit · ruff · Chroma · SQLite · Streamlit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④ 기능 범위 · 화면 ·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필수 기능 5개로 시연 시나리오 3개를 완주한다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변경 요청 처리 에이전트 · AI Agent 프로젝트 기획서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2952" y="6492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4 /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기능 범위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17904"/>
          <a:ext cx="3749040" cy="2468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D6B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Must 1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가상 프로젝트·실행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주문·정산, run_tests, run_diff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D6B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Must 2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 위치 예측 모델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 주입 데이터·학습·Tool화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D6B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Must 3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RAG 2종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장애·조치 이력, 사내 규칙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D6B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Must 4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3종 에이전트 + 판정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유형별 통과 조건, 재시도 3회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D6B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Must 5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Streamlit + 승인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근거·diff·공격 로그, 승인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Nice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연쇄 수정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호출부까지 다중 파일 패치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Nice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DL 크로스 인코더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UniXcoder 파인튜닝과 비교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Nice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전략 재설계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반복 실패 시 수정 전략 교체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Nice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검증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BugsInPy 일부 적용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343400" y="1234440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화면 UI 스케치 (1개 화면)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17904"/>
            <a:ext cx="3703320" cy="2606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5A676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l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1609344"/>
            <a:ext cx="1097280" cy="987552"/>
          </a:xfrm>
          <a:prstGeom prst="roundRect">
            <a:avLst>
              <a:gd name="adj" fmla="val 6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/>
          <a:lstStyle/>
          <a:p>
            <a:pPr algn="l">
              <a:spcAft>
                <a:spcPts val="100"/>
              </a:spcAft>
            </a:pPr>
            <a:r>
              <a:rPr sz="850" b="1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티켓 목록</a:t>
            </a:r>
          </a:p>
          <a:p>
            <a:pPr algn="l">
              <a:spcAft>
                <a:spcPts val="100"/>
              </a:spcAft>
            </a:pPr>
            <a:r>
              <a:rPr sz="9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SR-2041 결함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SR-2077 노후화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SR-2103 보안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670048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D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+ 새 티켓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017520"/>
            <a:ext cx="1097280" cy="292608"/>
          </a:xfrm>
          <a:prstGeom prst="roundRect">
            <a:avLst>
              <a:gd name="adj" fmla="val 10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재시도  </a:t>
            </a:r>
            <a:r>
              <a:rPr sz="900" b="1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2/3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364991"/>
            <a:ext cx="1097280" cy="292608"/>
          </a:xfrm>
          <a:prstGeom prst="roundRect">
            <a:avLst>
              <a:gd name="adj" fmla="val 10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미달·회귀  </a:t>
            </a:r>
            <a:r>
              <a:rPr sz="900" b="1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1건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712463"/>
            <a:ext cx="1097280" cy="292608"/>
          </a:xfrm>
          <a:prstGeom prst="roundRect">
            <a:avLst>
              <a:gd name="adj" fmla="val 10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l"/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테스트  </a:t>
            </a:r>
            <a:r>
              <a:rPr sz="900" b="1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48/48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609344"/>
            <a:ext cx="438912" cy="228600"/>
          </a:xfrm>
          <a:prstGeom prst="roundRect">
            <a:avLst>
              <a:gd name="adj" fmla="val 50000"/>
            </a:avLst>
          </a:prstGeom>
          <a:solidFill>
            <a:srgbClr val="DCEFEA"/>
          </a:solidFill>
          <a:ln w="9525">
            <a:solidFill>
              <a:srgbClr val="CD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1609344"/>
            <a:ext cx="438912" cy="228600"/>
          </a:xfrm>
          <a:prstGeom prst="roundRect">
            <a:avLst>
              <a:gd name="adj" fmla="val 50000"/>
            </a:avLst>
          </a:prstGeom>
          <a:solidFill>
            <a:srgbClr val="DCEFEA"/>
          </a:solidFill>
          <a:ln w="9525">
            <a:solidFill>
              <a:srgbClr val="CD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수정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74536" y="1609344"/>
            <a:ext cx="438912" cy="228600"/>
          </a:xfrm>
          <a:prstGeom prst="roundRect">
            <a:avLst>
              <a:gd name="adj" fmla="val 50000"/>
            </a:avLst>
          </a:prstGeom>
          <a:solidFill>
            <a:srgbClr val="FCE6DB"/>
          </a:solidFill>
          <a:ln w="9525">
            <a:solidFill>
              <a:srgbClr val="CD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공격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50024" y="1609344"/>
            <a:ext cx="438912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25512" y="1609344"/>
            <a:ext cx="438912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D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883664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결함 위치</a:t>
            </a:r>
            <a:r>
              <a:rPr sz="85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  |  근거  |  diff  |  공격 로그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2121408"/>
            <a:ext cx="2331720" cy="941832"/>
          </a:xfrm>
          <a:prstGeom prst="roundRect">
            <a:avLst>
              <a:gd name="adj" fmla="val 6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850" b="1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결함 위치 Top-3</a:t>
            </a:r>
          </a:p>
          <a:p>
            <a:pPr algn="l"/>
            <a:r>
              <a:rPr sz="850" b="1" i="0">
                <a:solidFill>
                  <a:srgbClr val="6A3D9E"/>
                </a:solidFill>
                <a:latin typeface="Consolas"/>
                <a:ea typeface="Malgun Gothic"/>
                <a:cs typeface="Malgun Gothic"/>
              </a:rPr>
              <a:t>1 discount.apply_coupon  0.82</a:t>
            </a:r>
          </a:p>
          <a:p>
            <a:pPr algn="l"/>
            <a:r>
              <a:rPr sz="850" b="0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2 order_calc.total_amount  0.41</a:t>
            </a:r>
          </a:p>
          <a:p>
            <a:pPr algn="l"/>
            <a:r>
              <a:rPr sz="850" b="0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3 settlement.net_amount  0.17</a:t>
            </a:r>
          </a:p>
          <a:p>
            <a:pPr algn="l"/>
            <a:r>
              <a:rPr sz="800" b="0" i="0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SHAP: 임베딩 +0.31 · 과거 결함 +0.12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3127248"/>
            <a:ext cx="2331720" cy="566928"/>
          </a:xfrm>
          <a:prstGeom prst="roundRect">
            <a:avLst>
              <a:gd name="adj" fmla="val 6000"/>
            </a:avLst>
          </a:prstGeom>
          <a:solidFill>
            <a:srgbClr val="FC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64008" rIns="64008" bIns="64008" rtlCol="0" anchor="t"/>
          <a:lstStyle/>
          <a:p>
            <a:pPr algn="l"/>
            <a:r>
              <a:rPr sz="850" b="1" i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[미달 · Hypothesis]</a:t>
            </a:r>
          </a:p>
          <a:p>
            <a:pPr algn="l"/>
            <a:r>
              <a:rPr sz="850" b="0" i="0">
                <a:solidFill>
                  <a:srgbClr val="16201C"/>
                </a:solidFill>
                <a:latin typeface="Consolas"/>
                <a:ea typeface="Malgun Gothic"/>
                <a:cs typeface="Malgun Gothic"/>
              </a:rPr>
              <a:t>amount=100000, coupons=2</a:t>
            </a:r>
          </a:p>
          <a:p>
            <a:pPr algn="l"/>
            <a:r>
              <a:rPr sz="8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기대 90,000 · 실제 -10,000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767328"/>
            <a:ext cx="54864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5A67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반려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31152" y="3767328"/>
            <a:ext cx="1024128" cy="256032"/>
          </a:xfrm>
          <a:prstGeom prst="roundRect">
            <a:avLst>
              <a:gd name="adj" fmla="val 20000"/>
            </a:avLst>
          </a:prstGeom>
          <a:solidFill>
            <a:srgbClr val="0D6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후 반영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1234440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5일 개발 일정 (1인)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75320" y="1517904"/>
          <a:ext cx="3456432" cy="21214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일차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→ 완료 기준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1일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주문·정산 프로젝트·pytest, 실행 도구, 환경(venv·mutmut) → </a:t>
                      </a:r>
                    </a:p>
                    <a:p>
                      <a:pPr algn="l"/>
                      <a:r>
                        <a:rPr sz="900" b="1" i="0">
                          <a:solidFill>
                            <a:srgbClr val="0D6B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run_tests·run_diff 동작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2일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결함 주입 → 티켓 데이터셋, 위치 모델 학습·평가 → </a:t>
                      </a:r>
                    </a:p>
                    <a:p>
                      <a:pPr algn="l"/>
                      <a:r>
                        <a:rPr sz="900" b="1" i="0">
                          <a:solidFill>
                            <a:srgbClr val="0D6B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 모델 비교표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3일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RAG 2종, 분석·수정 에이전트 → </a:t>
                      </a:r>
                    </a:p>
                    <a:p>
                      <a:pPr algn="l"/>
                      <a:r>
                        <a:rPr sz="900" b="1" i="0">
                          <a:solidFill>
                            <a:srgbClr val="0D6B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 1 CLI 완주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4일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 에이전트·판정, Streamlit (밤: E2E 배치 실행) → </a:t>
                      </a:r>
                    </a:p>
                    <a:p>
                      <a:pPr algn="l"/>
                      <a:r>
                        <a:rPr sz="900" b="1" i="0">
                          <a:solidFill>
                            <a:srgbClr val="0D6B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 1~3 화면 동작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5일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오전 E2E·Ablation 정리, 오후 KPI·발표 준비 (버퍼) → </a:t>
                      </a:r>
                    </a:p>
                    <a:p>
                      <a:pPr algn="l"/>
                      <a:r>
                        <a:rPr sz="900" b="1" i="0">
                          <a:solidFill>
                            <a:srgbClr val="0D6B6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리허설 완료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4343400"/>
            <a:ext cx="7589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핵심 시연 시나리오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626864"/>
            <a:ext cx="2468880" cy="1764792"/>
          </a:xfrm>
          <a:prstGeom prst="roundRect">
            <a:avLst>
              <a:gd name="adj" fmla="val 6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① 결함 수정</a:t>
            </a:r>
          </a:p>
          <a:p>
            <a:pPr algn="l">
              <a:spcAft>
                <a:spcPts val="200"/>
              </a:spcAft>
            </a:pPr>
            <a:r>
              <a:rPr sz="850" b="0" i="1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SR-2041 · 10만 원 이상 주문에 쿠폰 2장을</a:t>
            </a:r>
          </a:p>
          <a:p>
            <a:pPr algn="l">
              <a:spcAft>
                <a:spcPts val="200"/>
              </a:spcAft>
            </a:pPr>
            <a:r>
              <a:rPr sz="850" b="0" i="1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쓰면 정산 금액이 음수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위치 예측 → 이력 검색 → 재현 테스트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→ 패치 → property_attack → 판정 → 승인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결과  </a:t>
            </a:r>
            <a:r>
              <a:rPr sz="8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Top-1 apply_coupon 예측.</a:t>
            </a:r>
          </a:p>
          <a:p>
            <a:pPr algn="l">
              <a:spcAft>
                <a:spcPts val="200"/>
              </a:spcAft>
            </a:pPr>
            <a:r>
              <a:rPr sz="8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정확히 10만 원에서 1차 패치 미달 발견, 2차 통과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4626864"/>
            <a:ext cx="2468880" cy="1764792"/>
          </a:xfrm>
          <a:prstGeom prst="roundRect">
            <a:avLst>
              <a:gd name="adj" fmla="val 6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② 노후화 대응</a:t>
            </a:r>
          </a:p>
          <a:p>
            <a:pPr algn="l">
              <a:spcAft>
                <a:spcPts val="200"/>
              </a:spcAft>
            </a:pPr>
            <a:r>
              <a:rPr sz="850" b="0" i="1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SR-2077 · 3.12 전환 대비</a:t>
            </a:r>
          </a:p>
          <a:p>
            <a:pPr algn="l">
              <a:spcAft>
                <a:spcPts val="200"/>
              </a:spcAft>
            </a:pPr>
            <a:r>
              <a:rPr sz="850" b="0" i="1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utcnow()·pytz 사용 제거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check_deprecated → 규칙 검색 → 패치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→ property_attack(월말·윤년·DST)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→ 판정 → 승인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결과  </a:t>
            </a:r>
            <a:r>
              <a:rPr sz="8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zoneinfo로 교체, 생성 입력 전체에서 원본과 출력 동일, 지원 종료 API 0건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4626864"/>
            <a:ext cx="2468880" cy="1764792"/>
          </a:xfrm>
          <a:prstGeom prst="roundRect">
            <a:avLst>
              <a:gd name="adj" fmla="val 6000"/>
            </a:avLst>
          </a:prstGeom>
          <a:solidFill>
            <a:srgbClr val="EC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t"/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③ 보안 진단 조치</a:t>
            </a:r>
          </a:p>
          <a:p>
            <a:pPr algn="l">
              <a:spcAft>
                <a:spcPts val="200"/>
              </a:spcAft>
            </a:pPr>
            <a:r>
              <a:rPr sz="850" b="0" i="1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SR-2103 · find_by_name에서</a:t>
            </a:r>
          </a:p>
          <a:p>
            <a:pPr algn="l">
              <a:spcAft>
                <a:spcPts val="200"/>
              </a:spcAft>
            </a:pPr>
            <a:r>
              <a:rPr sz="850" b="0" i="1">
                <a:solidFill>
                  <a:srgbClr val="5A6762"/>
                </a:solidFill>
                <a:latin typeface="Malgun Gothic"/>
                <a:ea typeface="Malgun Gothic"/>
                <a:cs typeface="Malgun Gothic"/>
              </a:rPr>
              <a:t>f-string으로 SQL 조립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search_rules(SEC-SQL-01) → 바인딩 패치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→ check_security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0D6B60"/>
                </a:solidFill>
                <a:latin typeface="Malgun Gothic"/>
                <a:ea typeface="Malgun Gothic"/>
                <a:cs typeface="Malgun Gothic"/>
              </a:rPr>
              <a:t>→ run_diff(인젝션·정상) → 공격 저장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결과  </a:t>
            </a:r>
            <a:r>
              <a:rPr sz="850" b="0" i="0">
                <a:solidFill>
                  <a:srgbClr val="16201C"/>
                </a:solidFill>
                <a:latin typeface="Malgun Gothic"/>
                <a:ea typeface="Malgun Gothic"/>
                <a:cs typeface="Malgun Gothic"/>
              </a:rPr>
              <a:t>규칙 ID 인용, 인젝션 무력화, 정상 조회 동일. 성공 공격은 다음 티켓에서 재사용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343400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03F0B"/>
                </a:solidFill>
                <a:latin typeface="Malgun Gothic"/>
                <a:ea typeface="Malgun Gothic"/>
                <a:cs typeface="Malgun Gothic"/>
              </a:rPr>
              <a:t>리스크와 대응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8275320" y="4626864"/>
          <a:ext cx="3456431" cy="1664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리스크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5A676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대응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EC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2일차 과부하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mutmut 결과 위주, LLM 주입은 보조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가상 데이터 과대평가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주입 방식별로 나눠 보고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패치 미수렴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재시도 3회 후 사람 검토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 코드의 환경 침범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작업본 격리 · 타임아웃 10초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Hypothesis 거짓 불일치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금액 정수 · UTC 고정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 중 API 지연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16201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 티켓 결과 캐시 재생</a:t>
                      </a:r>
                    </a:p>
                  </a:txBody>
                  <a:tcPr marL="64008" marR="64008" marT="36576" marB="36576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DD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DD6D2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1950</Words>
  <Application>Microsoft Office PowerPoint</Application>
  <PresentationFormat>와이드스크린</PresentationFormat>
  <Paragraphs>385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student</cp:lastModifiedBy>
  <cp:revision>4</cp:revision>
  <dcterms:created xsi:type="dcterms:W3CDTF">2013-01-27T09:14:16Z</dcterms:created>
  <dcterms:modified xsi:type="dcterms:W3CDTF">2026-10-19T03:15:31Z</dcterms:modified>
  <cp:category/>
</cp:coreProperties>
</file>